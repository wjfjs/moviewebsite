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59" r:id="rId5"/>
    <p:sldId id="260" r:id="rId6"/>
    <p:sldId id="261" r:id="rId7"/>
    <p:sldId id="280" r:id="rId8"/>
    <p:sldId id="281" r:id="rId9"/>
    <p:sldId id="269" r:id="rId10"/>
    <p:sldId id="272" r:id="rId11"/>
    <p:sldId id="270" r:id="rId12"/>
    <p:sldId id="273" r:id="rId13"/>
    <p:sldId id="278" r:id="rId14"/>
    <p:sldId id="274" r:id="rId15"/>
    <p:sldId id="279" r:id="rId16"/>
    <p:sldId id="282" r:id="rId17"/>
    <p:sldId id="283" r:id="rId18"/>
    <p:sldId id="284" r:id="rId19"/>
    <p:sldId id="262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42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41572B-D228-F3F1-6EF9-678A8DB86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0E0ECC-2079-6248-9805-FF5F03ED6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223220-F935-EE9C-872F-77FD9E95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A1F1F-69BD-47EF-A5B4-6AC4E12C1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939571-824F-03C0-2145-C195D248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26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52120-CAE1-6299-BB87-9ED18EA2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FD20FB-B4A7-5FD2-B340-08501B9B6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3F792-8AD1-7ADF-BE5D-E3BEFF71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DCB2F1-4B74-538A-90E5-609D5937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AC0604-BB16-4AE0-F6C9-EB729170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58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783F5-6A42-AAFA-A5A1-E454D10A3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BF4DE2-0B89-7DA3-08B8-23D9193BA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304E7D-67FF-0206-02CC-15428A435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1F828F-6290-C4AA-C7E4-87AADB2DC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84550-64F5-E8A5-197D-4F2B2D11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56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06DC30-5B3F-6746-12A6-32AAD3BE8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CC6BF7-E700-ED4B-7F74-96CB6FB71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3F1CF3-A3C1-5219-0EAD-CDBD54226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E2F7EC-15D9-ADE0-5DD4-89DD2ECD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23C6D9-C6DE-8725-F2CA-941AB9B7B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E55B9C-65A4-832C-A3FD-770E45721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969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CC29F-4B7F-11DB-E2C1-90FDBCAAC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E9CDA2-90A9-89AD-3A5E-9AF6540C4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9A74D9-7E49-6C52-CF9F-1E613032A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8D0DA8-2D1A-DFD4-9D7D-A08F4E07F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CB586A-197A-C1F3-3BE9-CB944F6E8E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0DAD42-FFCB-72CB-C955-5E852A41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611F3A-1C02-DA13-8197-4C4145212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1D8A91-59C7-D2C2-A1B9-EB2E6FD10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91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8D36A-04F3-D7C5-9C4B-F44000304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7682EB-D72E-D7AE-D1B6-B7A2C63EA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428F59F-CCEF-81F0-7BF5-10DBD342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BC012C-C0A6-33DD-B741-1820D74D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762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E141EE3-97D8-E8AB-1A95-FAD6C16CA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DCAB4CD-5EFE-094F-3CB8-135A9E783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E9FE84-5193-9DC6-CCEF-73A2519B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417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5D87B1-AAB3-BEC4-6250-48D7D0F4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E3848-60D8-E842-9AC2-EE1CFC5A3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441DE5-A9E5-4F08-442D-58B0FCCD1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4CC0E7-9CF6-6CBD-482C-23F8B68B9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5435B8-81B9-68F9-198E-A4118DB97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BDC9C0-EF16-C4DE-5C8E-08139E4C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02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990B7-2726-074E-AD2D-682CD7C51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4EA1A4-B60F-F075-79FE-A87F208A3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EF94E3-014B-33DE-AC55-EC187E097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F947D1-A29F-20A2-C44E-C6FD3BA78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B53387-813D-7075-BD81-075572093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A8F74C-0DA3-A3A7-A83B-ADC60D3E1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14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1C6DB2-EE52-C98E-BE94-1BACE422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60DBEF-DCE3-F5C4-B734-22DFDFE2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74A3E3-0B2E-1675-91CE-D31BEA710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6FD1F6-7CDE-D4FB-6E5A-32675184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764791-E3A1-D5FD-73B6-DBBAB883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216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437D2E-EE2E-EC28-4A26-B69538AF83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8BE2D2-5E0E-E574-3C88-D619EA824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E51FEC-93A6-6839-117C-AAF9CBE95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AD6F9-5E87-3182-FE7F-DF8DCF0F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D6DC91-9B7A-C8A3-C546-5A66A56F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60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FD1AB26-648D-F1F3-378A-EB44F6F8A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948FB4-ECFC-3CEA-77AB-C1B21E704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80968D-F5E9-7E7D-0F54-8BE68A65E2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9F0E2-E20D-4389-BAD9-AED1EC7FDB46}" type="datetimeFigureOut">
              <a:rPr lang="ko-KR" altLang="en-US" smtClean="0"/>
              <a:t>2023-06-19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61C2AE-943D-CD1A-3432-B2672CC02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75AD54-5579-276D-E790-86F252155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55EC9-43D4-4C9E-8803-A69C08D400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4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azza.gwangju.ac.kr/~ce191719/project/main.php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5EA92-736B-4E97-884C-C78DACC1BD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영화 정보 사이트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C3A8A3-3C11-18FC-9E46-3A0ACE206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7 </a:t>
            </a:r>
            <a:r>
              <a:rPr lang="ko-KR" altLang="en-US" dirty="0"/>
              <a:t>조</a:t>
            </a:r>
            <a:endParaRPr lang="en-US" altLang="ko-KR" dirty="0"/>
          </a:p>
          <a:p>
            <a:r>
              <a:rPr lang="ko-KR" altLang="en-US" dirty="0" err="1"/>
              <a:t>윤희혁</a:t>
            </a:r>
            <a:endParaRPr lang="en-US" altLang="ko-KR" dirty="0"/>
          </a:p>
          <a:p>
            <a:r>
              <a:rPr lang="ko-KR" altLang="en-US" dirty="0"/>
              <a:t>조민혁</a:t>
            </a:r>
          </a:p>
        </p:txBody>
      </p:sp>
    </p:spTree>
    <p:extLst>
      <p:ext uri="{BB962C8B-B14F-4D97-AF65-F5344CB8AC3E}">
        <p14:creationId xmlns:p14="http://schemas.microsoft.com/office/powerpoint/2010/main" val="361305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0165BA-3A2F-D682-5332-1E661C040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283" y="1600199"/>
            <a:ext cx="11097722" cy="478996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400" dirty="0"/>
              <a:t>영화정보를 </a:t>
            </a:r>
            <a:r>
              <a:rPr lang="en-US" altLang="ko-KR" sz="2400" dirty="0"/>
              <a:t>CSV</a:t>
            </a:r>
            <a:r>
              <a:rPr lang="ko-KR" altLang="en-US" sz="2400" dirty="0"/>
              <a:t>로 받아 테이블에 삽입한 데이터를 이용해 영화 정보를 검색하고</a:t>
            </a:r>
            <a:r>
              <a:rPr lang="en-US" altLang="ko-KR" sz="2400" dirty="0"/>
              <a:t>, </a:t>
            </a:r>
            <a:r>
              <a:rPr lang="ko-KR" altLang="en-US" sz="2400" dirty="0"/>
              <a:t>좋아요 및 댓글 기능으로 사용자간 소통할 수 있고</a:t>
            </a:r>
            <a:r>
              <a:rPr lang="en-US" altLang="ko-KR" sz="2400" dirty="0"/>
              <a:t>, </a:t>
            </a:r>
            <a:r>
              <a:rPr lang="ko-KR" altLang="en-US" sz="2400" dirty="0"/>
              <a:t>관리자가 회원 및 영화 정보를 관리할 수 있는 사이트이다</a:t>
            </a:r>
            <a:r>
              <a:rPr lang="en-US" altLang="ko-KR" sz="2400" dirty="0"/>
              <a:t>.</a:t>
            </a:r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SW </a:t>
            </a:r>
            <a:r>
              <a:rPr lang="ko-KR" altLang="en-US" sz="2400" dirty="0"/>
              <a:t>개발 환경으로는 </a:t>
            </a:r>
            <a:r>
              <a:rPr lang="en-US" altLang="ko-KR" sz="2400" dirty="0"/>
              <a:t>ORACLE, PHP, NOTEPAD++, PUTTY, FileZilla</a:t>
            </a:r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SW </a:t>
            </a:r>
            <a:r>
              <a:rPr lang="ko-KR" altLang="en-US" sz="2400" dirty="0"/>
              <a:t>운영 환경으로는 </a:t>
            </a:r>
            <a:r>
              <a:rPr lang="en-US" altLang="ko-KR" sz="2400" dirty="0" err="1"/>
              <a:t>azza</a:t>
            </a:r>
            <a:r>
              <a:rPr lang="ko-KR" altLang="en-US" sz="2400" dirty="0"/>
              <a:t>서버로 </a:t>
            </a:r>
            <a:r>
              <a:rPr lang="en-US" altLang="ko-KR" sz="2400" dirty="0"/>
              <a:t>PHP</a:t>
            </a:r>
            <a:r>
              <a:rPr lang="ko-KR" altLang="en-US" sz="2400" dirty="0"/>
              <a:t>와 </a:t>
            </a:r>
            <a:r>
              <a:rPr lang="en-US" altLang="ko-KR" sz="2400" dirty="0"/>
              <a:t>Oracle</a:t>
            </a:r>
            <a:r>
              <a:rPr lang="ko-KR" altLang="en-US" sz="2400" dirty="0"/>
              <a:t>를 </a:t>
            </a:r>
            <a:r>
              <a:rPr lang="en-US" altLang="ko-KR" sz="2400" dirty="0"/>
              <a:t>OCI</a:t>
            </a:r>
            <a:r>
              <a:rPr lang="ko-KR" altLang="en-US" sz="2400" dirty="0"/>
              <a:t>를 이용해</a:t>
            </a:r>
            <a:r>
              <a:rPr lang="en-US" altLang="ko-KR" sz="2400" dirty="0"/>
              <a:t> </a:t>
            </a:r>
            <a:r>
              <a:rPr lang="ko-KR" altLang="en-US" sz="2400" dirty="0"/>
              <a:t>연동하여 웹에서 운영한다</a:t>
            </a:r>
            <a:r>
              <a:rPr lang="en-US" altLang="ko-KR" sz="2400" dirty="0"/>
              <a:t>.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D18EB70-5C03-D39B-29AC-1B9025304AAF}"/>
              </a:ext>
            </a:extLst>
          </p:cNvPr>
          <p:cNvSpPr txBox="1">
            <a:spLocks/>
          </p:cNvSpPr>
          <p:nvPr/>
        </p:nvSpPr>
        <p:spPr>
          <a:xfrm>
            <a:off x="438763" y="467833"/>
            <a:ext cx="1894368" cy="876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2965126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0165BA-3A2F-D682-5332-1E661C040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388" y="2437513"/>
            <a:ext cx="11187224" cy="1982973"/>
          </a:xfrm>
        </p:spPr>
        <p:txBody>
          <a:bodyPr anchor="ctr">
            <a:normAutofit/>
          </a:bodyPr>
          <a:lstStyle/>
          <a:p>
            <a:r>
              <a:rPr lang="ko-KR" altLang="en-US" sz="2400" b="1" dirty="0" err="1"/>
              <a:t>윤희혁</a:t>
            </a:r>
            <a:r>
              <a:rPr lang="ko-KR" altLang="en-US" sz="1800" dirty="0"/>
              <a:t> </a:t>
            </a:r>
            <a:endParaRPr lang="en-US" altLang="ko-KR" sz="2000" dirty="0"/>
          </a:p>
          <a:p>
            <a:endParaRPr lang="en-US" altLang="ko-KR" sz="1800" dirty="0"/>
          </a:p>
          <a:p>
            <a:endParaRPr lang="en-US" altLang="ko-KR" sz="2400" b="1" dirty="0"/>
          </a:p>
          <a:p>
            <a:r>
              <a:rPr lang="ko-KR" altLang="en-US" sz="2400" b="1" dirty="0"/>
              <a:t>조민혁 </a:t>
            </a:r>
            <a:endParaRPr lang="ko-KR" altLang="en-US" sz="2000" dirty="0"/>
          </a:p>
          <a:p>
            <a:endParaRPr lang="en-US" altLang="ko-KR" sz="18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D18EB70-5C03-D39B-29AC-1B9025304AAF}"/>
              </a:ext>
            </a:extLst>
          </p:cNvPr>
          <p:cNvSpPr txBox="1">
            <a:spLocks/>
          </p:cNvSpPr>
          <p:nvPr/>
        </p:nvSpPr>
        <p:spPr>
          <a:xfrm>
            <a:off x="438762" y="467833"/>
            <a:ext cx="3059349" cy="876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err="1"/>
              <a:t>조원별</a:t>
            </a:r>
            <a:r>
              <a:rPr lang="ko-KR" altLang="en-US" b="1" dirty="0"/>
              <a:t> 역할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4BC166-9FF0-85E0-721C-775182A5D661}"/>
              </a:ext>
            </a:extLst>
          </p:cNvPr>
          <p:cNvSpPr txBox="1"/>
          <p:nvPr/>
        </p:nvSpPr>
        <p:spPr>
          <a:xfrm>
            <a:off x="1810585" y="2354002"/>
            <a:ext cx="8935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: ppt</a:t>
            </a:r>
            <a:r>
              <a:rPr lang="ko-KR" altLang="en-US" sz="2000" dirty="0"/>
              <a:t>제작</a:t>
            </a:r>
            <a:r>
              <a:rPr lang="en-US" altLang="ko-KR" sz="2000" dirty="0"/>
              <a:t>,</a:t>
            </a:r>
            <a:r>
              <a:rPr lang="ko-KR" altLang="en-US" sz="2000" dirty="0"/>
              <a:t> 개념설계</a:t>
            </a:r>
            <a:r>
              <a:rPr lang="en-US" altLang="ko-KR" sz="2000" dirty="0"/>
              <a:t>, </a:t>
            </a:r>
            <a:r>
              <a:rPr lang="ko-KR" altLang="en-US" sz="2000" dirty="0"/>
              <a:t>회원 정보 관리</a:t>
            </a:r>
            <a:r>
              <a:rPr lang="en-US" altLang="ko-KR" sz="2000" dirty="0"/>
              <a:t>, </a:t>
            </a:r>
            <a:r>
              <a:rPr lang="ko-KR" altLang="en-US" sz="2000" dirty="0"/>
              <a:t>관리자 회원 및 영화 정보 관리</a:t>
            </a:r>
            <a:r>
              <a:rPr lang="en-US" altLang="ko-KR" sz="2000" dirty="0"/>
              <a:t>, </a:t>
            </a:r>
            <a:r>
              <a:rPr lang="ko-KR" altLang="en-US" sz="2000" dirty="0"/>
              <a:t>좋아요 및 댓글 기능</a:t>
            </a:r>
            <a:r>
              <a:rPr lang="en-US" altLang="ko-KR" sz="2000" dirty="0"/>
              <a:t>, </a:t>
            </a:r>
            <a:r>
              <a:rPr lang="ko-KR" altLang="en-US" sz="2000" dirty="0"/>
              <a:t>메인 및 상세페이지 로그인 관련 기능 제작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743D7-9583-84D1-E761-1C026BFA4D7B}"/>
              </a:ext>
            </a:extLst>
          </p:cNvPr>
          <p:cNvSpPr txBox="1"/>
          <p:nvPr/>
        </p:nvSpPr>
        <p:spPr>
          <a:xfrm>
            <a:off x="1810585" y="3671684"/>
            <a:ext cx="89356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: </a:t>
            </a:r>
            <a:r>
              <a:rPr lang="ko-KR" altLang="en-US" sz="2000" dirty="0"/>
              <a:t>논리설계</a:t>
            </a:r>
            <a:r>
              <a:rPr lang="en-US" altLang="ko-KR" sz="2000" dirty="0"/>
              <a:t>, </a:t>
            </a:r>
            <a:r>
              <a:rPr lang="ko-KR" altLang="en-US" sz="2000" dirty="0"/>
              <a:t>발표</a:t>
            </a:r>
            <a:r>
              <a:rPr lang="en-US" altLang="ko-KR" sz="2000" dirty="0"/>
              <a:t>, </a:t>
            </a:r>
            <a:r>
              <a:rPr lang="ko-KR" altLang="en-US" sz="2000" dirty="0"/>
              <a:t>검색바와 필터 체크박스 및 필터 별 검색 기능</a:t>
            </a:r>
            <a:r>
              <a:rPr lang="en-US" altLang="ko-KR" sz="2000" dirty="0"/>
              <a:t>, </a:t>
            </a:r>
            <a:r>
              <a:rPr lang="ko-KR" altLang="en-US" sz="2000" dirty="0"/>
              <a:t>정렬 구현</a:t>
            </a:r>
          </a:p>
        </p:txBody>
      </p:sp>
    </p:spTree>
    <p:extLst>
      <p:ext uri="{BB962C8B-B14F-4D97-AF65-F5344CB8AC3E}">
        <p14:creationId xmlns:p14="http://schemas.microsoft.com/office/powerpoint/2010/main" val="366926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D9C75-0FBA-8C0B-5D4D-1286D30C3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3" y="484704"/>
            <a:ext cx="1894368" cy="876263"/>
          </a:xfrm>
        </p:spPr>
        <p:txBody>
          <a:bodyPr>
            <a:normAutofit/>
          </a:bodyPr>
          <a:lstStyle/>
          <a:p>
            <a:r>
              <a:rPr lang="ko-KR" altLang="en-US" b="1" dirty="0"/>
              <a:t>기능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0165BA-3A2F-D682-5332-1E661C040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8309" y="1573619"/>
            <a:ext cx="9475382" cy="3935930"/>
          </a:xfrm>
        </p:spPr>
        <p:txBody>
          <a:bodyPr>
            <a:normAutofit/>
          </a:bodyPr>
          <a:lstStyle/>
          <a:p>
            <a:r>
              <a:rPr lang="ko-KR" altLang="en-US" dirty="0"/>
              <a:t>영화 정보 검색 기능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좋아요 기능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댓글 기능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회원 및 영화 정보 관리 기능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9438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D9C75-0FBA-8C0B-5D4D-1286D30C3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3" y="484704"/>
            <a:ext cx="6912936" cy="876263"/>
          </a:xfrm>
        </p:spPr>
        <p:txBody>
          <a:bodyPr>
            <a:normAutofit/>
          </a:bodyPr>
          <a:lstStyle/>
          <a:p>
            <a:r>
              <a:rPr lang="ko-KR" altLang="en-US" b="1" dirty="0"/>
              <a:t>개념 설계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36A058C-C327-9FBF-B3E0-B74B9D364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823" y="606108"/>
            <a:ext cx="9792894" cy="6209159"/>
          </a:xfrm>
        </p:spPr>
      </p:pic>
    </p:spTree>
    <p:extLst>
      <p:ext uri="{BB962C8B-B14F-4D97-AF65-F5344CB8AC3E}">
        <p14:creationId xmlns:p14="http://schemas.microsoft.com/office/powerpoint/2010/main" val="1799479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D9C75-0FBA-8C0B-5D4D-1286D30C3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3" y="484704"/>
            <a:ext cx="6912936" cy="876263"/>
          </a:xfrm>
        </p:spPr>
        <p:txBody>
          <a:bodyPr>
            <a:normAutofit/>
          </a:bodyPr>
          <a:lstStyle/>
          <a:p>
            <a:r>
              <a:rPr lang="ko-KR" altLang="en-US" b="1" dirty="0"/>
              <a:t>논리 설계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2C909C5-01CB-5625-0642-7864919B5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6" r="1764"/>
          <a:stretch/>
        </p:blipFill>
        <p:spPr>
          <a:xfrm>
            <a:off x="3235568" y="1386154"/>
            <a:ext cx="5727561" cy="5471846"/>
          </a:xfrm>
        </p:spPr>
      </p:pic>
    </p:spTree>
    <p:extLst>
      <p:ext uri="{BB962C8B-B14F-4D97-AF65-F5344CB8AC3E}">
        <p14:creationId xmlns:p14="http://schemas.microsoft.com/office/powerpoint/2010/main" val="1890481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D9C75-0FBA-8C0B-5D4D-1286D30C3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3" y="484704"/>
            <a:ext cx="6912936" cy="876263"/>
          </a:xfrm>
        </p:spPr>
        <p:txBody>
          <a:bodyPr>
            <a:normAutofit/>
          </a:bodyPr>
          <a:lstStyle/>
          <a:p>
            <a:r>
              <a:rPr lang="en-US" altLang="ko-KR" b="1" dirty="0"/>
              <a:t>Use Case</a:t>
            </a:r>
            <a:endParaRPr lang="ko-KR" altLang="en-US" b="1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60FA6584-B625-745A-0696-728229E6E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11" y="1557202"/>
            <a:ext cx="11865978" cy="4306303"/>
          </a:xfrm>
        </p:spPr>
      </p:pic>
    </p:spTree>
    <p:extLst>
      <p:ext uri="{BB962C8B-B14F-4D97-AF65-F5344CB8AC3E}">
        <p14:creationId xmlns:p14="http://schemas.microsoft.com/office/powerpoint/2010/main" val="2477114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D9C75-0FBA-8C0B-5D4D-1286D30C3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283" y="484704"/>
            <a:ext cx="6912936" cy="876263"/>
          </a:xfrm>
        </p:spPr>
        <p:txBody>
          <a:bodyPr>
            <a:normAutofit/>
          </a:bodyPr>
          <a:lstStyle/>
          <a:p>
            <a:r>
              <a:rPr lang="ko-KR" altLang="en-US" b="1" dirty="0"/>
              <a:t>화면흐름도</a:t>
            </a: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CF19E7E5-3D78-9BD0-2747-242492F2F0D4}"/>
              </a:ext>
            </a:extLst>
          </p:cNvPr>
          <p:cNvGrpSpPr/>
          <p:nvPr/>
        </p:nvGrpSpPr>
        <p:grpSpPr>
          <a:xfrm>
            <a:off x="1267397" y="1360967"/>
            <a:ext cx="9540591" cy="4675668"/>
            <a:chOff x="1267397" y="1360967"/>
            <a:chExt cx="9540591" cy="467566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8BA82E3-8ABE-1D5A-C3D3-7AC1A5404988}"/>
                </a:ext>
              </a:extLst>
            </p:cNvPr>
            <p:cNvSpPr/>
            <p:nvPr/>
          </p:nvSpPr>
          <p:spPr>
            <a:xfrm>
              <a:off x="1267397" y="1644855"/>
              <a:ext cx="1988221" cy="8199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메인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FB3EB3B-D5F0-56FA-5E57-69A2F7C266A7}"/>
                </a:ext>
              </a:extLst>
            </p:cNvPr>
            <p:cNvSpPr/>
            <p:nvPr/>
          </p:nvSpPr>
          <p:spPr>
            <a:xfrm>
              <a:off x="3902404" y="1644855"/>
              <a:ext cx="1988221" cy="8199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로그인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73A4D12-4504-F058-0BE8-63188A5C4611}"/>
                </a:ext>
              </a:extLst>
            </p:cNvPr>
            <p:cNvSpPr/>
            <p:nvPr/>
          </p:nvSpPr>
          <p:spPr>
            <a:xfrm>
              <a:off x="1267397" y="2809789"/>
              <a:ext cx="1988221" cy="8199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검색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488AD9F-61FC-3A23-EC8C-97E4CAC6C7C5}"/>
                </a:ext>
              </a:extLst>
            </p:cNvPr>
            <p:cNvSpPr/>
            <p:nvPr/>
          </p:nvSpPr>
          <p:spPr>
            <a:xfrm>
              <a:off x="7107832" y="1360967"/>
              <a:ext cx="1752247" cy="6043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아이디 찾기</a:t>
              </a:r>
              <a:endParaRPr lang="en-US" altLang="ko-KR" dirty="0"/>
            </a:p>
            <a:p>
              <a:pPr algn="ctr"/>
              <a:r>
                <a:rPr lang="ko-KR" altLang="en-US" dirty="0"/>
                <a:t>비밀번호 찾기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1FDE9F70-F5C2-A32A-3F2F-854973B883FA}"/>
                </a:ext>
              </a:extLst>
            </p:cNvPr>
            <p:cNvCxnSpPr>
              <a:stCxn id="6" idx="3"/>
              <a:endCxn id="8" idx="1"/>
            </p:cNvCxnSpPr>
            <p:nvPr/>
          </p:nvCxnSpPr>
          <p:spPr>
            <a:xfrm>
              <a:off x="3255619" y="2054825"/>
              <a:ext cx="6467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DAE66C5-6438-53E7-2C96-D7399D6AE759}"/>
                </a:ext>
              </a:extLst>
            </p:cNvPr>
            <p:cNvSpPr/>
            <p:nvPr/>
          </p:nvSpPr>
          <p:spPr>
            <a:xfrm>
              <a:off x="7177614" y="4209688"/>
              <a:ext cx="1987284" cy="58497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사용자가 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좋아요 한 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영화</a:t>
              </a:r>
              <a:endParaRPr lang="en-US" altLang="ko-KR" sz="1200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8F82F3E-A5AB-C503-D803-91C9BFF67CFD}"/>
                </a:ext>
              </a:extLst>
            </p:cNvPr>
            <p:cNvSpPr/>
            <p:nvPr/>
          </p:nvSpPr>
          <p:spPr>
            <a:xfrm>
              <a:off x="5287244" y="4209688"/>
              <a:ext cx="1873141" cy="58497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사용자가 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댓글을 작성한 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영화</a:t>
              </a:r>
              <a:endParaRPr lang="en-US" altLang="ko-KR" sz="1200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E98DECD-2052-1F8E-C66D-D6E9D0290B5B}"/>
                </a:ext>
              </a:extLst>
            </p:cNvPr>
            <p:cNvSpPr/>
            <p:nvPr/>
          </p:nvSpPr>
          <p:spPr>
            <a:xfrm>
              <a:off x="5287244" y="3097396"/>
              <a:ext cx="1612145" cy="58497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사용자 정보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915AD5C-9B2A-D637-6E06-084297D204D4}"/>
                </a:ext>
              </a:extLst>
            </p:cNvPr>
            <p:cNvSpPr/>
            <p:nvPr/>
          </p:nvSpPr>
          <p:spPr>
            <a:xfrm>
              <a:off x="3519805" y="3095268"/>
              <a:ext cx="1612145" cy="58497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정보 </a:t>
              </a:r>
              <a:r>
                <a:rPr lang="ko-KR" altLang="en-US" dirty="0" err="1"/>
                <a:t>수정창</a:t>
              </a:r>
              <a:endParaRPr lang="ko-KR" altLang="en-US" dirty="0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A3E4E674-6839-A85F-7F3A-9B1453EC4BD0}"/>
                </a:ext>
              </a:extLst>
            </p:cNvPr>
            <p:cNvCxnSpPr>
              <a:stCxn id="8" idx="2"/>
              <a:endCxn id="15" idx="0"/>
            </p:cNvCxnSpPr>
            <p:nvPr/>
          </p:nvCxnSpPr>
          <p:spPr>
            <a:xfrm flipH="1">
              <a:off x="4325878" y="2464794"/>
              <a:ext cx="570637" cy="6304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27B37A36-34D1-D47E-F7F7-A34AED991197}"/>
                </a:ext>
              </a:extLst>
            </p:cNvPr>
            <p:cNvCxnSpPr>
              <a:stCxn id="8" idx="2"/>
              <a:endCxn id="14" idx="0"/>
            </p:cNvCxnSpPr>
            <p:nvPr/>
          </p:nvCxnSpPr>
          <p:spPr>
            <a:xfrm>
              <a:off x="4896515" y="2464794"/>
              <a:ext cx="1196803" cy="6326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28DE1D6D-7217-6ADB-9570-B1294FA15AC4}"/>
                </a:ext>
              </a:extLst>
            </p:cNvPr>
            <p:cNvCxnSpPr>
              <a:stCxn id="14" idx="2"/>
              <a:endCxn id="12" idx="0"/>
            </p:cNvCxnSpPr>
            <p:nvPr/>
          </p:nvCxnSpPr>
          <p:spPr>
            <a:xfrm>
              <a:off x="6093317" y="3682370"/>
              <a:ext cx="2077939" cy="5273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926EDC92-C2DF-2723-0B89-5E46D9F293AB}"/>
                </a:ext>
              </a:extLst>
            </p:cNvPr>
            <p:cNvCxnSpPr>
              <a:stCxn id="14" idx="2"/>
              <a:endCxn id="13" idx="0"/>
            </p:cNvCxnSpPr>
            <p:nvPr/>
          </p:nvCxnSpPr>
          <p:spPr>
            <a:xfrm>
              <a:off x="6093317" y="3682370"/>
              <a:ext cx="130498" cy="5273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0CD0866C-8399-04E6-8D72-2293B4D2C4AB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>
              <a:off x="2261508" y="2464794"/>
              <a:ext cx="0" cy="3449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BDC30C5-61DC-1D0B-D4EC-97464DC7C7FE}"/>
                </a:ext>
              </a:extLst>
            </p:cNvPr>
            <p:cNvSpPr/>
            <p:nvPr/>
          </p:nvSpPr>
          <p:spPr>
            <a:xfrm>
              <a:off x="1267397" y="3974723"/>
              <a:ext cx="1988221" cy="8199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검색 결과</a:t>
              </a: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ABF2AA57-0F8A-7BBD-DE7E-ACE693BF6105}"/>
                </a:ext>
              </a:extLst>
            </p:cNvPr>
            <p:cNvCxnSpPr>
              <a:stCxn id="9" idx="2"/>
              <a:endCxn id="21" idx="0"/>
            </p:cNvCxnSpPr>
            <p:nvPr/>
          </p:nvCxnSpPr>
          <p:spPr>
            <a:xfrm>
              <a:off x="2261508" y="3629728"/>
              <a:ext cx="0" cy="3449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A59D1D64-1087-3A1A-78D4-22B10CDC6404}"/>
                </a:ext>
              </a:extLst>
            </p:cNvPr>
            <p:cNvCxnSpPr>
              <a:stCxn id="8" idx="3"/>
              <a:endCxn id="10" idx="1"/>
            </p:cNvCxnSpPr>
            <p:nvPr/>
          </p:nvCxnSpPr>
          <p:spPr>
            <a:xfrm flipV="1">
              <a:off x="5890625" y="1663117"/>
              <a:ext cx="1217207" cy="3917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79D831DB-6093-3B7C-8913-7E06A88CC682}"/>
                </a:ext>
              </a:extLst>
            </p:cNvPr>
            <p:cNvSpPr/>
            <p:nvPr/>
          </p:nvSpPr>
          <p:spPr>
            <a:xfrm>
              <a:off x="1267397" y="5094032"/>
              <a:ext cx="1988221" cy="8199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영화 상세 </a:t>
              </a:r>
              <a:r>
                <a:rPr lang="ko-KR" altLang="en-US" dirty="0" err="1"/>
                <a:t>정보창</a:t>
              </a:r>
              <a:endParaRPr lang="ko-KR" altLang="en-US" dirty="0"/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1CF2B270-D1E0-B98A-FB91-0E2B96E48841}"/>
                </a:ext>
              </a:extLst>
            </p:cNvPr>
            <p:cNvCxnSpPr>
              <a:stCxn id="21" idx="2"/>
              <a:endCxn id="24" idx="0"/>
            </p:cNvCxnSpPr>
            <p:nvPr/>
          </p:nvCxnSpPr>
          <p:spPr>
            <a:xfrm>
              <a:off x="2261508" y="4794662"/>
              <a:ext cx="0" cy="2993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AB0497-4D17-63C1-3C58-EFD2786335EC}"/>
                </a:ext>
              </a:extLst>
            </p:cNvPr>
            <p:cNvSpPr txBox="1"/>
            <p:nvPr/>
          </p:nvSpPr>
          <p:spPr>
            <a:xfrm>
              <a:off x="3443534" y="2921630"/>
              <a:ext cx="633958" cy="18628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관리자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D3DFD39-E11F-8AA9-0495-24DCC9F37323}"/>
                </a:ext>
              </a:extLst>
            </p:cNvPr>
            <p:cNvSpPr txBox="1"/>
            <p:nvPr/>
          </p:nvSpPr>
          <p:spPr>
            <a:xfrm>
              <a:off x="5256667" y="2921629"/>
              <a:ext cx="633958" cy="18628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사용자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746E627-F307-A373-A232-14C943C14625}"/>
                </a:ext>
              </a:extLst>
            </p:cNvPr>
            <p:cNvSpPr/>
            <p:nvPr/>
          </p:nvSpPr>
          <p:spPr>
            <a:xfrm>
              <a:off x="6241043" y="5451661"/>
              <a:ext cx="1873141" cy="58497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영화 상세 </a:t>
              </a:r>
              <a:r>
                <a:rPr lang="ko-KR" altLang="en-US" sz="1600" dirty="0" err="1"/>
                <a:t>정보창</a:t>
              </a:r>
              <a:endParaRPr lang="en-US" altLang="ko-KR" sz="1600" dirty="0"/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896D7B8F-FBEE-818E-4179-A77B9F237330}"/>
                </a:ext>
              </a:extLst>
            </p:cNvPr>
            <p:cNvCxnSpPr>
              <a:stCxn id="13" idx="2"/>
              <a:endCxn id="28" idx="0"/>
            </p:cNvCxnSpPr>
            <p:nvPr/>
          </p:nvCxnSpPr>
          <p:spPr>
            <a:xfrm>
              <a:off x="6223815" y="4794661"/>
              <a:ext cx="953799" cy="657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B7CF9547-AE49-9EDA-6F19-6DE6E967217B}"/>
                </a:ext>
              </a:extLst>
            </p:cNvPr>
            <p:cNvCxnSpPr>
              <a:stCxn id="12" idx="2"/>
              <a:endCxn id="28" idx="0"/>
            </p:cNvCxnSpPr>
            <p:nvPr/>
          </p:nvCxnSpPr>
          <p:spPr>
            <a:xfrm flipH="1">
              <a:off x="7177614" y="4794661"/>
              <a:ext cx="993641" cy="657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1EC6D65D-EB05-4585-E3A5-AC4EE8FE3803}"/>
                </a:ext>
              </a:extLst>
            </p:cNvPr>
            <p:cNvSpPr/>
            <p:nvPr/>
          </p:nvSpPr>
          <p:spPr>
            <a:xfrm>
              <a:off x="7107832" y="2135794"/>
              <a:ext cx="1752247" cy="6043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회원가입</a:t>
              </a:r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A906CF5F-78D7-696D-F4CC-7E36875031FC}"/>
                </a:ext>
              </a:extLst>
            </p:cNvPr>
            <p:cNvCxnSpPr>
              <a:stCxn id="8" idx="3"/>
              <a:endCxn id="35" idx="1"/>
            </p:cNvCxnSpPr>
            <p:nvPr/>
          </p:nvCxnSpPr>
          <p:spPr>
            <a:xfrm>
              <a:off x="5890625" y="2054825"/>
              <a:ext cx="1217207" cy="38312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" name="직선 화살표 연결선 2">
              <a:extLst>
                <a:ext uri="{FF2B5EF4-FFF2-40B4-BE49-F238E27FC236}">
                  <a16:creationId xmlns:a16="http://schemas.microsoft.com/office/drawing/2014/main" id="{929D38BE-3DDB-9058-9457-CA5EBDC8260A}"/>
                </a:ext>
              </a:extLst>
            </p:cNvPr>
            <p:cNvCxnSpPr>
              <a:cxnSpLocks/>
              <a:stCxn id="28" idx="3"/>
              <a:endCxn id="40" idx="1"/>
            </p:cNvCxnSpPr>
            <p:nvPr/>
          </p:nvCxnSpPr>
          <p:spPr>
            <a:xfrm>
              <a:off x="8114184" y="5744148"/>
              <a:ext cx="7458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410DD58-C2AF-6273-18A8-26F7D76AA26B}"/>
                </a:ext>
              </a:extLst>
            </p:cNvPr>
            <p:cNvSpPr/>
            <p:nvPr/>
          </p:nvSpPr>
          <p:spPr>
            <a:xfrm>
              <a:off x="8860079" y="5451661"/>
              <a:ext cx="1947909" cy="58497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댓글 달기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79E8F19-53AF-5F2A-2F4F-A6DEC4CEAC77}"/>
                </a:ext>
              </a:extLst>
            </p:cNvPr>
            <p:cNvSpPr/>
            <p:nvPr/>
          </p:nvSpPr>
          <p:spPr>
            <a:xfrm>
              <a:off x="3519804" y="4207545"/>
              <a:ext cx="1612145" cy="58497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/>
                <a:t>영화 정보 수정</a:t>
              </a:r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F9CF98C-AB11-5565-830B-52304B705C36}"/>
                </a:ext>
              </a:extLst>
            </p:cNvPr>
            <p:cNvCxnSpPr>
              <a:cxnSpLocks/>
              <a:stCxn id="15" idx="2"/>
              <a:endCxn id="48" idx="0"/>
            </p:cNvCxnSpPr>
            <p:nvPr/>
          </p:nvCxnSpPr>
          <p:spPr>
            <a:xfrm flipH="1">
              <a:off x="4325877" y="3680242"/>
              <a:ext cx="1" cy="5273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2844761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02975"/>
              </p:ext>
            </p:extLst>
          </p:nvPr>
        </p:nvGraphicFramePr>
        <p:xfrm>
          <a:off x="8491905" y="55997"/>
          <a:ext cx="3703780" cy="6671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481">
                  <a:extLst>
                    <a:ext uri="{9D8B030D-6E8A-4147-A177-3AD203B41FA5}">
                      <a16:colId xmlns:a16="http://schemas.microsoft.com/office/drawing/2014/main" val="362593305"/>
                    </a:ext>
                  </a:extLst>
                </a:gridCol>
                <a:gridCol w="2860299">
                  <a:extLst>
                    <a:ext uri="{9D8B030D-6E8A-4147-A177-3AD203B41FA5}">
                      <a16:colId xmlns:a16="http://schemas.microsoft.com/office/drawing/2014/main" val="89728569"/>
                    </a:ext>
                  </a:extLst>
                </a:gridCol>
              </a:tblGrid>
              <a:tr h="5997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검색창에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키워드를 입력해 원하는 영화를 검색한다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80288"/>
                  </a:ext>
                </a:extLst>
              </a:tr>
              <a:tr h="5997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필터를 통해 장르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제작사등을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선택해 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36463"/>
                  </a:ext>
                </a:extLst>
              </a:tr>
              <a:tr h="59976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오름차순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</a:rPr>
                        <a:t>내림차순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</a:rPr>
                        <a:t>만든 연도 내림 및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</a:rPr>
                        <a:t>올림순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6436"/>
                  </a:ext>
                </a:extLst>
              </a:tr>
              <a:tr h="8467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로그인 창이 나타나며 로그인과 회원가입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</a:rPr>
                        <a:t>찾기링크가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</a:rPr>
                        <a:t> 나타난다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240474"/>
                  </a:ext>
                </a:extLst>
              </a:tr>
              <a:tr h="8467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</a:rPr>
                        <a:t> 창이 나타나며 회원가입을 할 수 있다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020541"/>
                  </a:ext>
                </a:extLst>
              </a:tr>
              <a:tr h="5440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이름과 사진을 누르면 해당 상세정보창으로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149947"/>
                  </a:ext>
                </a:extLst>
              </a:tr>
              <a:tr h="12942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로그인을 한 유저만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사용가능하며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좋아요는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유저당 한 번씩 누를 수 있으며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누르게 되면 색이 바뀐다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좋아요 누른 수가 누적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되서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보여준다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560108"/>
                  </a:ext>
                </a:extLst>
              </a:tr>
              <a:tr h="13406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총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영화수에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맞게 페이지가 생성된다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140649"/>
                  </a:ext>
                </a:extLst>
              </a:tr>
            </a:tbl>
          </a:graphicData>
        </a:graphic>
      </p:graphicFrame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04380"/>
              </p:ext>
            </p:extLst>
          </p:nvPr>
        </p:nvGraphicFramePr>
        <p:xfrm>
          <a:off x="151361" y="55835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905">
                  <a:extLst>
                    <a:ext uri="{9D8B030D-6E8A-4147-A177-3AD203B41FA5}">
                      <a16:colId xmlns:a16="http://schemas.microsoft.com/office/drawing/2014/main" val="3087811967"/>
                    </a:ext>
                  </a:extLst>
                </a:gridCol>
                <a:gridCol w="7014095">
                  <a:extLst>
                    <a:ext uri="{9D8B030D-6E8A-4147-A177-3AD203B41FA5}">
                      <a16:colId xmlns:a16="http://schemas.microsoft.com/office/drawing/2014/main" val="281153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4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메인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61225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4955B81C-02CF-3191-7F41-BACA1C250EB7}"/>
              </a:ext>
            </a:extLst>
          </p:cNvPr>
          <p:cNvGrpSpPr/>
          <p:nvPr/>
        </p:nvGrpSpPr>
        <p:grpSpPr>
          <a:xfrm>
            <a:off x="135482" y="918173"/>
            <a:ext cx="8068632" cy="5809496"/>
            <a:chOff x="135482" y="918173"/>
            <a:chExt cx="8068632" cy="5809496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22FC198E-8861-DE05-B99C-81F6C5E92F7D}"/>
                </a:ext>
              </a:extLst>
            </p:cNvPr>
            <p:cNvGrpSpPr/>
            <p:nvPr/>
          </p:nvGrpSpPr>
          <p:grpSpPr>
            <a:xfrm>
              <a:off x="135482" y="918173"/>
              <a:ext cx="8068632" cy="5809496"/>
              <a:chOff x="0" y="1047569"/>
              <a:chExt cx="8068632" cy="5809496"/>
            </a:xfrm>
          </p:grpSpPr>
          <p:sp>
            <p:nvSpPr>
              <p:cNvPr id="5" name="직사각형 4"/>
              <p:cNvSpPr/>
              <p:nvPr/>
            </p:nvSpPr>
            <p:spPr>
              <a:xfrm>
                <a:off x="2317" y="1047569"/>
                <a:ext cx="8066315" cy="58094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/>
              <p:cNvSpPr/>
              <p:nvPr/>
            </p:nvSpPr>
            <p:spPr>
              <a:xfrm>
                <a:off x="1232404" y="2001944"/>
                <a:ext cx="4923208" cy="2541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>
                    <a:solidFill>
                      <a:schemeClr val="tx1"/>
                    </a:solidFill>
                  </a:rPr>
                  <a:t>검색 창</a:t>
                </a:r>
              </a:p>
            </p:txBody>
          </p:sp>
          <p:sp>
            <p:nvSpPr>
              <p:cNvPr id="8" name="직사각형 7"/>
              <p:cNvSpPr/>
              <p:nvPr/>
            </p:nvSpPr>
            <p:spPr>
              <a:xfrm>
                <a:off x="1232404" y="2311332"/>
                <a:ext cx="4923208" cy="28830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dirty="0">
                    <a:solidFill>
                      <a:schemeClr val="tx1"/>
                    </a:solidFill>
                  </a:rPr>
                  <a:t>필터</a:t>
                </a:r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1232403" y="2654902"/>
                <a:ext cx="761999" cy="18908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dirty="0">
                    <a:solidFill>
                      <a:schemeClr val="tx1"/>
                    </a:solidFill>
                  </a:rPr>
                  <a:t>정렬</a:t>
                </a:r>
                <a:endParaRPr lang="en-US" altLang="ko-KR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6120950" y="1199784"/>
                <a:ext cx="816428" cy="21423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login</a:t>
                </a:r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6972040" y="1199785"/>
                <a:ext cx="976849" cy="2142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signup</a:t>
                </a: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2693578" y="3706886"/>
                <a:ext cx="4923208" cy="2541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한글 이름</a:t>
                </a:r>
              </a:p>
            </p:txBody>
          </p:sp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8C2F5281-DA7B-7D6E-CA61-113C62F6A4C8}"/>
                  </a:ext>
                </a:extLst>
              </p:cNvPr>
              <p:cNvGrpSpPr/>
              <p:nvPr/>
            </p:nvGrpSpPr>
            <p:grpSpPr>
              <a:xfrm>
                <a:off x="2693578" y="4026599"/>
                <a:ext cx="4923208" cy="2245704"/>
                <a:chOff x="2862944" y="3654400"/>
                <a:chExt cx="4923208" cy="2245704"/>
              </a:xfrm>
            </p:grpSpPr>
            <p:sp>
              <p:nvSpPr>
                <p:cNvPr id="17" name="직사각형 16"/>
                <p:cNvSpPr/>
                <p:nvPr/>
              </p:nvSpPr>
              <p:spPr>
                <a:xfrm>
                  <a:off x="2862944" y="3654400"/>
                  <a:ext cx="4923208" cy="25412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</a:rPr>
                    <a:t>영어 이름</a:t>
                  </a:r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2862944" y="3974480"/>
                  <a:ext cx="4923208" cy="25412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</a:rPr>
                    <a:t>제작 연도</a:t>
                  </a:r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2862944" y="4288621"/>
                  <a:ext cx="4923208" cy="25412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>
                      <a:solidFill>
                        <a:schemeClr val="tx1"/>
                      </a:solidFill>
                    </a:rPr>
                    <a:t>관람 연령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직사각형 19"/>
                <p:cNvSpPr/>
                <p:nvPr/>
              </p:nvSpPr>
              <p:spPr>
                <a:xfrm>
                  <a:off x="2862944" y="4602762"/>
                  <a:ext cx="4923208" cy="254124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</a:rPr>
                    <a:t>장르</a:t>
                  </a:r>
                </a:p>
              </p:txBody>
            </p:sp>
            <p:sp>
              <p:nvSpPr>
                <p:cNvPr id="28" name="직사각형 27"/>
                <p:cNvSpPr/>
                <p:nvPr/>
              </p:nvSpPr>
              <p:spPr>
                <a:xfrm>
                  <a:off x="2862944" y="4939098"/>
                  <a:ext cx="4923208" cy="961006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</a:rPr>
                    <a:t>줄거리</a:t>
                  </a:r>
                </a:p>
              </p:txBody>
            </p:sp>
          </p:grpSp>
          <p:sp>
            <p:nvSpPr>
              <p:cNvPr id="39" name="TextBox 38"/>
              <p:cNvSpPr txBox="1"/>
              <p:nvPr/>
            </p:nvSpPr>
            <p:spPr>
              <a:xfrm>
                <a:off x="3098194" y="1779901"/>
                <a:ext cx="302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1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3105436" y="2237644"/>
                <a:ext cx="302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2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5882030" y="1225575"/>
                <a:ext cx="302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4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1239702" y="6144487"/>
                <a:ext cx="302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7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4357752" y="3565277"/>
                <a:ext cx="302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6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6852297" y="1251858"/>
                <a:ext cx="302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5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019160" y="2493958"/>
                <a:ext cx="3027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3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5" name="직선 연결선 54"/>
              <p:cNvCxnSpPr/>
              <p:nvPr/>
            </p:nvCxnSpPr>
            <p:spPr>
              <a:xfrm>
                <a:off x="0" y="3424305"/>
                <a:ext cx="8068632" cy="2774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14573ECB-6D0D-7233-B266-154A9374A2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3587" y="3699233"/>
                <a:ext cx="1561593" cy="2312719"/>
              </a:xfrm>
              <a:prstGeom prst="rect">
                <a:avLst/>
              </a:prstGeom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75256BE4-6FC8-B5FC-C496-15C70B07C1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0792" y="6097721"/>
                <a:ext cx="412480" cy="416098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D9697D-B9F8-86E4-D57C-04A7080B53B8}"/>
                  </a:ext>
                </a:extLst>
              </p:cNvPr>
              <p:cNvSpPr txBox="1"/>
              <p:nvPr/>
            </p:nvSpPr>
            <p:spPr>
              <a:xfrm>
                <a:off x="3120367" y="6305770"/>
                <a:ext cx="304476" cy="381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8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507BE16-6EC4-52F8-3C32-57AC6626B8C6}"/>
                </a:ext>
              </a:extLst>
            </p:cNvPr>
            <p:cNvSpPr/>
            <p:nvPr/>
          </p:nvSpPr>
          <p:spPr>
            <a:xfrm>
              <a:off x="3543640" y="6350404"/>
              <a:ext cx="1252316" cy="2852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ysClr val="windowText" lastClr="000000"/>
                  </a:solidFill>
                </a:rPr>
                <a:t>1 2 3 4 5</a:t>
              </a:r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25B0FCE-0989-1D92-B2A1-728DA73B53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6003" y="5953208"/>
              <a:ext cx="460559" cy="4605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2907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73587" y="973489"/>
            <a:ext cx="7970223" cy="58094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678745"/>
              </p:ext>
            </p:extLst>
          </p:nvPr>
        </p:nvGraphicFramePr>
        <p:xfrm>
          <a:off x="8295871" y="87801"/>
          <a:ext cx="3703780" cy="669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756">
                  <a:extLst>
                    <a:ext uri="{9D8B030D-6E8A-4147-A177-3AD203B41FA5}">
                      <a16:colId xmlns:a16="http://schemas.microsoft.com/office/drawing/2014/main" val="362593305"/>
                    </a:ext>
                  </a:extLst>
                </a:gridCol>
                <a:gridCol w="2963024">
                  <a:extLst>
                    <a:ext uri="{9D8B030D-6E8A-4147-A177-3AD203B41FA5}">
                      <a16:colId xmlns:a16="http://schemas.microsoft.com/office/drawing/2014/main" val="89728569"/>
                    </a:ext>
                  </a:extLst>
                </a:gridCol>
              </a:tblGrid>
              <a:tr h="12381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유튜브에 연결된 영상을 보여준다</a:t>
                      </a:r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재생버튼을 누르면 재생된다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80288"/>
                  </a:ext>
                </a:extLst>
              </a:tr>
              <a:tr h="12381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영화의 포스터를 보여준다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36463"/>
                  </a:ext>
                </a:extLst>
              </a:tr>
              <a:tr h="12381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페이지를 연 횟수와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좋아요를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누른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홧수를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보여준다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6436"/>
                  </a:ext>
                </a:extLst>
              </a:tr>
              <a:tr h="1490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로그인한 유저들만 사용가능 하며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유저들이 쓴 댓글을 보여준다 유저와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관리자는 댓글을 지울 수 있다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193023"/>
                  </a:ext>
                </a:extLst>
              </a:tr>
              <a:tr h="14904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평점 사이트와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연결되있어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이미지를 누르면 해당 사이트가 팝업창으로 나타난다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427514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123EA2C-C7FA-DB0D-88BC-D6358B996D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334757"/>
              </p:ext>
            </p:extLst>
          </p:nvPr>
        </p:nvGraphicFramePr>
        <p:xfrm>
          <a:off x="74431" y="87801"/>
          <a:ext cx="812800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905">
                  <a:extLst>
                    <a:ext uri="{9D8B030D-6E8A-4147-A177-3AD203B41FA5}">
                      <a16:colId xmlns:a16="http://schemas.microsoft.com/office/drawing/2014/main" val="3087811967"/>
                    </a:ext>
                  </a:extLst>
                </a:gridCol>
                <a:gridCol w="7014095">
                  <a:extLst>
                    <a:ext uri="{9D8B030D-6E8A-4147-A177-3AD203B41FA5}">
                      <a16:colId xmlns:a16="http://schemas.microsoft.com/office/drawing/2014/main" val="281153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상세페이지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4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상세페이지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상세페이지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61225"/>
                  </a:ext>
                </a:extLst>
              </a:tr>
            </a:tbl>
          </a:graphicData>
        </a:graphic>
      </p:graphicFrame>
      <p:grpSp>
        <p:nvGrpSpPr>
          <p:cNvPr id="42" name="그룹 41">
            <a:extLst>
              <a:ext uri="{FF2B5EF4-FFF2-40B4-BE49-F238E27FC236}">
                <a16:creationId xmlns:a16="http://schemas.microsoft.com/office/drawing/2014/main" id="{BC508921-D588-9E8D-CC41-7322E7FFA8AB}"/>
              </a:ext>
            </a:extLst>
          </p:cNvPr>
          <p:cNvGrpSpPr/>
          <p:nvPr/>
        </p:nvGrpSpPr>
        <p:grpSpPr>
          <a:xfrm>
            <a:off x="219670" y="1070388"/>
            <a:ext cx="7678061" cy="5638765"/>
            <a:chOff x="219670" y="1070388"/>
            <a:chExt cx="7678061" cy="5638765"/>
          </a:xfrm>
        </p:grpSpPr>
        <p:sp>
          <p:nvSpPr>
            <p:cNvPr id="13" name="직사각형 12"/>
            <p:cNvSpPr/>
            <p:nvPr/>
          </p:nvSpPr>
          <p:spPr>
            <a:xfrm>
              <a:off x="237952" y="1381526"/>
              <a:ext cx="7659779" cy="12145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예고편</a:t>
              </a: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357008" y="2669329"/>
              <a:ext cx="2153140" cy="35168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한글 이름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5357009" y="3053421"/>
              <a:ext cx="2153140" cy="3071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영어 이름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5267246" y="4653446"/>
              <a:ext cx="1434984" cy="29376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조회 수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400541" y="3021016"/>
              <a:ext cx="2503729" cy="22605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장르</a:t>
              </a: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2400541" y="3349527"/>
              <a:ext cx="2503729" cy="2608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감독</a:t>
              </a: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2400541" y="3696153"/>
              <a:ext cx="2503729" cy="2608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제작자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2400541" y="4048595"/>
              <a:ext cx="2503729" cy="2608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유통회사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19670" y="6146413"/>
              <a:ext cx="7678059" cy="5627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유저 이름 </a:t>
              </a:r>
              <a:r>
                <a:rPr lang="en-US" altLang="ko-KR" dirty="0">
                  <a:solidFill>
                    <a:schemeClr val="tx1"/>
                  </a:solidFill>
                </a:rPr>
                <a:t>: </a:t>
              </a:r>
              <a:r>
                <a:rPr lang="ko-KR" altLang="en-US" dirty="0">
                  <a:solidFill>
                    <a:schemeClr val="tx1"/>
                  </a:solidFill>
                </a:rPr>
                <a:t>댓글 내용</a:t>
              </a:r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4CCB84C-A02D-E2B2-B631-66066E24BA5F}"/>
                </a:ext>
              </a:extLst>
            </p:cNvPr>
            <p:cNvSpPr/>
            <p:nvPr/>
          </p:nvSpPr>
          <p:spPr>
            <a:xfrm>
              <a:off x="5793268" y="3621434"/>
              <a:ext cx="1434984" cy="2270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개봉일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87939E-65A6-B93A-E961-C273E1A4CDB1}"/>
                </a:ext>
              </a:extLst>
            </p:cNvPr>
            <p:cNvSpPr txBox="1"/>
            <p:nvPr/>
          </p:nvSpPr>
          <p:spPr>
            <a:xfrm>
              <a:off x="3501043" y="1675293"/>
              <a:ext cx="3027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1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BC37D4-2146-841A-63C2-B0D178CD9E62}"/>
                </a:ext>
              </a:extLst>
            </p:cNvPr>
            <p:cNvSpPr txBox="1"/>
            <p:nvPr/>
          </p:nvSpPr>
          <p:spPr>
            <a:xfrm>
              <a:off x="4964524" y="4142746"/>
              <a:ext cx="3027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3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28A9BDA-64DC-D315-587C-9EF6B5FA249E}"/>
                </a:ext>
              </a:extLst>
            </p:cNvPr>
            <p:cNvSpPr txBox="1"/>
            <p:nvPr/>
          </p:nvSpPr>
          <p:spPr>
            <a:xfrm>
              <a:off x="2621901" y="6148461"/>
              <a:ext cx="3027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4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6476FCC9-F3B6-787D-1952-CD934133A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962" y="2653709"/>
              <a:ext cx="1686752" cy="249807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FCB419E-CF82-4A2A-50F7-673800543B2E}"/>
                </a:ext>
              </a:extLst>
            </p:cNvPr>
            <p:cNvSpPr txBox="1"/>
            <p:nvPr/>
          </p:nvSpPr>
          <p:spPr>
            <a:xfrm>
              <a:off x="361942" y="2649019"/>
              <a:ext cx="3027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2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87A4B92A-E945-AFDA-F9D3-DCB7F66D8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2709" y="3440642"/>
              <a:ext cx="412480" cy="416098"/>
            </a:xfrm>
            <a:prstGeom prst="rect">
              <a:avLst/>
            </a:prstGeom>
          </p:spPr>
        </p:pic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577C36A3-D1A1-CB28-A62C-75280BC52A75}"/>
                </a:ext>
              </a:extLst>
            </p:cNvPr>
            <p:cNvSpPr/>
            <p:nvPr/>
          </p:nvSpPr>
          <p:spPr>
            <a:xfrm>
              <a:off x="5267246" y="4324534"/>
              <a:ext cx="1434984" cy="29376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좋아요 수</a:t>
              </a:r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EED89C8-1F83-FB10-CEAC-F059245DC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6146" y="3828832"/>
              <a:ext cx="460559" cy="460559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79091AB-9ED7-30A7-64D6-BBDC2E591FC4}"/>
                </a:ext>
              </a:extLst>
            </p:cNvPr>
            <p:cNvSpPr/>
            <p:nvPr/>
          </p:nvSpPr>
          <p:spPr>
            <a:xfrm>
              <a:off x="2400539" y="2670283"/>
              <a:ext cx="2503730" cy="25043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줄거리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4889D1D-C1A6-855F-E9B4-617A5C5F8140}"/>
                </a:ext>
              </a:extLst>
            </p:cNvPr>
            <p:cNvSpPr/>
            <p:nvPr/>
          </p:nvSpPr>
          <p:spPr>
            <a:xfrm>
              <a:off x="2400541" y="4400012"/>
              <a:ext cx="2503729" cy="2608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개봉일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ED16BD7-9463-6EC0-A46C-72613828C790}"/>
                </a:ext>
              </a:extLst>
            </p:cNvPr>
            <p:cNvSpPr/>
            <p:nvPr/>
          </p:nvSpPr>
          <p:spPr>
            <a:xfrm>
              <a:off x="2400541" y="4752454"/>
              <a:ext cx="2503729" cy="2608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영화관수</a:t>
              </a: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CD0A9052-EB1F-6E11-8F77-15270FE2A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18449" y="5037959"/>
              <a:ext cx="2591025" cy="807790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6B841B7-7E84-A2C9-72EE-A4D98389EABC}"/>
                </a:ext>
              </a:extLst>
            </p:cNvPr>
            <p:cNvSpPr/>
            <p:nvPr/>
          </p:nvSpPr>
          <p:spPr>
            <a:xfrm>
              <a:off x="2400540" y="5084015"/>
              <a:ext cx="2503729" cy="2608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</a:rPr>
                <a:t>관람수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2A6708-52D9-F66E-866B-9618CE3CC667}"/>
                </a:ext>
              </a:extLst>
            </p:cNvPr>
            <p:cNvSpPr/>
            <p:nvPr/>
          </p:nvSpPr>
          <p:spPr>
            <a:xfrm>
              <a:off x="2400540" y="5435432"/>
              <a:ext cx="2503729" cy="2608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상영시간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AA01A19-893D-60CF-7702-62B776382479}"/>
                </a:ext>
              </a:extLst>
            </p:cNvPr>
            <p:cNvSpPr/>
            <p:nvPr/>
          </p:nvSpPr>
          <p:spPr>
            <a:xfrm>
              <a:off x="2400540" y="5787874"/>
              <a:ext cx="2503729" cy="26087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제작국사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52E8C6C-576E-FEB3-30A4-22864E725C96}"/>
                </a:ext>
              </a:extLst>
            </p:cNvPr>
            <p:cNvSpPr txBox="1"/>
            <p:nvPr/>
          </p:nvSpPr>
          <p:spPr>
            <a:xfrm>
              <a:off x="4986023" y="5237108"/>
              <a:ext cx="3027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5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8A13D726-53F7-A751-9A44-92FBEA54B35E}"/>
                </a:ext>
              </a:extLst>
            </p:cNvPr>
            <p:cNvSpPr/>
            <p:nvPr/>
          </p:nvSpPr>
          <p:spPr>
            <a:xfrm>
              <a:off x="6065514" y="1070388"/>
              <a:ext cx="816428" cy="21423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login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868C7E9-0E1C-74B4-65FA-E17F523DDA04}"/>
                </a:ext>
              </a:extLst>
            </p:cNvPr>
            <p:cNvSpPr/>
            <p:nvPr/>
          </p:nvSpPr>
          <p:spPr>
            <a:xfrm>
              <a:off x="6916604" y="1070389"/>
              <a:ext cx="976849" cy="2142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signup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2115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8A2124F-4F95-8244-FDA3-D163A006E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19073"/>
              </p:ext>
            </p:extLst>
          </p:nvPr>
        </p:nvGraphicFramePr>
        <p:xfrm>
          <a:off x="8370699" y="55995"/>
          <a:ext cx="3703780" cy="64830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756">
                  <a:extLst>
                    <a:ext uri="{9D8B030D-6E8A-4147-A177-3AD203B41FA5}">
                      <a16:colId xmlns:a16="http://schemas.microsoft.com/office/drawing/2014/main" val="362593305"/>
                    </a:ext>
                  </a:extLst>
                </a:gridCol>
                <a:gridCol w="2963024">
                  <a:extLst>
                    <a:ext uri="{9D8B030D-6E8A-4147-A177-3AD203B41FA5}">
                      <a16:colId xmlns:a16="http://schemas.microsoft.com/office/drawing/2014/main" val="89728569"/>
                    </a:ext>
                  </a:extLst>
                </a:gridCol>
              </a:tblGrid>
              <a:tr h="9691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글자 이상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글자 이하로 된 아이디를 입력한다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80288"/>
                  </a:ext>
                </a:extLst>
              </a:tr>
              <a:tr h="9691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글자 이상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글자 이하로 된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아비밀번호를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입력한다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36463"/>
                  </a:ext>
                </a:extLst>
              </a:tr>
              <a:tr h="935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로그인을 누르면 창이 나가진다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6436"/>
                  </a:ext>
                </a:extLst>
              </a:tr>
              <a:tr h="9691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를 누르면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 &amp; PASSWD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찾기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페이지로 이동한다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193023"/>
                  </a:ext>
                </a:extLst>
              </a:tr>
              <a:tr h="13201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>
                          <a:solidFill>
                            <a:schemeClr val="tx1"/>
                          </a:solidFill>
                        </a:rPr>
                        <a:t>url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를 누르면 회원가입 페이지로 이동한다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240474"/>
                  </a:ext>
                </a:extLst>
              </a:tr>
              <a:tr h="13201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뒤로가기를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누르면 이전 페이지로 이동한다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75704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AB6C1EDF-9DD9-2096-7AC9-E2F3DEED2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666823"/>
              </p:ext>
            </p:extLst>
          </p:nvPr>
        </p:nvGraphicFramePr>
        <p:xfrm>
          <a:off x="151361" y="55835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905">
                  <a:extLst>
                    <a:ext uri="{9D8B030D-6E8A-4147-A177-3AD203B41FA5}">
                      <a16:colId xmlns:a16="http://schemas.microsoft.com/office/drawing/2014/main" val="3087811967"/>
                    </a:ext>
                  </a:extLst>
                </a:gridCol>
                <a:gridCol w="7014095">
                  <a:extLst>
                    <a:ext uri="{9D8B030D-6E8A-4147-A177-3AD203B41FA5}">
                      <a16:colId xmlns:a16="http://schemas.microsoft.com/office/drawing/2014/main" val="281153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4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61225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8E28C597-49D1-8C98-EB99-C1DA331B25D0}"/>
              </a:ext>
            </a:extLst>
          </p:cNvPr>
          <p:cNvGrpSpPr/>
          <p:nvPr/>
        </p:nvGrpSpPr>
        <p:grpSpPr>
          <a:xfrm>
            <a:off x="290183" y="1143001"/>
            <a:ext cx="7875621" cy="5396022"/>
            <a:chOff x="290183" y="1143001"/>
            <a:chExt cx="7875621" cy="5396022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AEFE581-6E60-37CB-1B43-2B3509CC9FFE}"/>
                </a:ext>
              </a:extLst>
            </p:cNvPr>
            <p:cNvGrpSpPr/>
            <p:nvPr/>
          </p:nvGrpSpPr>
          <p:grpSpPr>
            <a:xfrm>
              <a:off x="290183" y="1143001"/>
              <a:ext cx="7875621" cy="5396022"/>
              <a:chOff x="279117" y="1143001"/>
              <a:chExt cx="3420979" cy="2285999"/>
            </a:xfrm>
          </p:grpSpPr>
          <p:sp>
            <p:nvSpPr>
              <p:cNvPr id="32" name="직사각형 31"/>
              <p:cNvSpPr/>
              <p:nvPr/>
            </p:nvSpPr>
            <p:spPr>
              <a:xfrm>
                <a:off x="279117" y="1143001"/>
                <a:ext cx="3420979" cy="2285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3200" dirty="0">
                    <a:solidFill>
                      <a:schemeClr val="tx1"/>
                    </a:solidFill>
                  </a:rPr>
                  <a:t>로그인</a:t>
                </a:r>
                <a:endParaRPr lang="en-US" altLang="ko-KR" sz="3200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ID &amp; PASSWD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찾기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회원가입 하기</a:t>
                </a:r>
                <a:endParaRPr lang="en-US" altLang="ko-K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6049AD9B-FBDE-AD46-1EA8-877C2CA8AF5D}"/>
                  </a:ext>
                </a:extLst>
              </p:cNvPr>
              <p:cNvSpPr/>
              <p:nvPr/>
            </p:nvSpPr>
            <p:spPr>
              <a:xfrm>
                <a:off x="448866" y="1800617"/>
                <a:ext cx="3081482" cy="2541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ID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F0AED0EC-EB22-BEA0-7B55-8ED0566511E4}"/>
                  </a:ext>
                </a:extLst>
              </p:cNvPr>
              <p:cNvSpPr/>
              <p:nvPr/>
            </p:nvSpPr>
            <p:spPr>
              <a:xfrm>
                <a:off x="448866" y="2138375"/>
                <a:ext cx="3081482" cy="2541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PASSWD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722AA8AA-B76D-CF2B-6B3E-398B4F383030}"/>
                  </a:ext>
                </a:extLst>
              </p:cNvPr>
              <p:cNvSpPr/>
              <p:nvPr/>
            </p:nvSpPr>
            <p:spPr>
              <a:xfrm>
                <a:off x="448866" y="2588498"/>
                <a:ext cx="3081482" cy="2541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LOGIN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7E9234-2347-F562-3BA6-5177F0279174}"/>
                  </a:ext>
                </a:extLst>
              </p:cNvPr>
              <p:cNvSpPr txBox="1"/>
              <p:nvPr/>
            </p:nvSpPr>
            <p:spPr>
              <a:xfrm>
                <a:off x="333540" y="1692443"/>
                <a:ext cx="141651" cy="160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1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DF9343D-63F5-A3A5-1314-72FD553C9018}"/>
                  </a:ext>
                </a:extLst>
              </p:cNvPr>
              <p:cNvSpPr txBox="1"/>
              <p:nvPr/>
            </p:nvSpPr>
            <p:spPr>
              <a:xfrm>
                <a:off x="1701227" y="2559094"/>
                <a:ext cx="148210" cy="156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3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599855F-2604-21B5-D263-AB1DD2660E74}"/>
                  </a:ext>
                </a:extLst>
              </p:cNvPr>
              <p:cNvSpPr txBox="1"/>
              <p:nvPr/>
            </p:nvSpPr>
            <p:spPr>
              <a:xfrm>
                <a:off x="1457324" y="2914623"/>
                <a:ext cx="162602" cy="156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4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8EBC805-10BE-AB42-1F0F-4EBF4E2996F4}"/>
                </a:ext>
              </a:extLst>
            </p:cNvPr>
            <p:cNvSpPr txBox="1"/>
            <p:nvPr/>
          </p:nvSpPr>
          <p:spPr>
            <a:xfrm>
              <a:off x="387635" y="3341790"/>
              <a:ext cx="3743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2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E54ECFD-A18B-25FE-C344-52B309920079}"/>
                </a:ext>
              </a:extLst>
            </p:cNvPr>
            <p:cNvSpPr txBox="1"/>
            <p:nvPr/>
          </p:nvSpPr>
          <p:spPr>
            <a:xfrm>
              <a:off x="3189764" y="5855006"/>
              <a:ext cx="374335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5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D12B056-4A05-6B7E-6270-135724FC2C16}"/>
                </a:ext>
              </a:extLst>
            </p:cNvPr>
            <p:cNvSpPr/>
            <p:nvPr/>
          </p:nvSpPr>
          <p:spPr>
            <a:xfrm>
              <a:off x="680971" y="6121699"/>
              <a:ext cx="1434984" cy="29376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뒤로 가기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0B7F8A4-E612-A2BC-C84A-05B6469E087B}"/>
                </a:ext>
              </a:extLst>
            </p:cNvPr>
            <p:cNvSpPr txBox="1"/>
            <p:nvPr/>
          </p:nvSpPr>
          <p:spPr>
            <a:xfrm>
              <a:off x="465166" y="5899250"/>
              <a:ext cx="374335" cy="369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6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4587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F2916CF-B5B5-FBA2-C11B-5BEB7C75E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480655"/>
              </p:ext>
            </p:extLst>
          </p:nvPr>
        </p:nvGraphicFramePr>
        <p:xfrm>
          <a:off x="8399305" y="55992"/>
          <a:ext cx="3703780" cy="6102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756">
                  <a:extLst>
                    <a:ext uri="{9D8B030D-6E8A-4147-A177-3AD203B41FA5}">
                      <a16:colId xmlns:a16="http://schemas.microsoft.com/office/drawing/2014/main" val="362593305"/>
                    </a:ext>
                  </a:extLst>
                </a:gridCol>
                <a:gridCol w="2963024">
                  <a:extLst>
                    <a:ext uri="{9D8B030D-6E8A-4147-A177-3AD203B41FA5}">
                      <a16:colId xmlns:a16="http://schemas.microsoft.com/office/drawing/2014/main" val="89728569"/>
                    </a:ext>
                  </a:extLst>
                </a:gridCol>
              </a:tblGrid>
              <a:tr h="152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같은 아이디가 있으면 중복이 있다고 알림이 뜬다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80288"/>
                  </a:ext>
                </a:extLst>
              </a:tr>
              <a:tr h="152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글자 이상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글자 이하로 입력한 비밀번호를 확인한다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36463"/>
                  </a:ext>
                </a:extLst>
              </a:tr>
              <a:tr h="152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@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.com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 포함된 이메일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형식이여야한다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6436"/>
                  </a:ext>
                </a:extLst>
              </a:tr>
              <a:tr h="15256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회원가입을 누르면 로그인 창으로 이동한다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19302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84BAECF-08E5-C6EB-5804-F2B098CA2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403920"/>
              </p:ext>
            </p:extLst>
          </p:nvPr>
        </p:nvGraphicFramePr>
        <p:xfrm>
          <a:off x="151361" y="55835"/>
          <a:ext cx="8128000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905">
                  <a:extLst>
                    <a:ext uri="{9D8B030D-6E8A-4147-A177-3AD203B41FA5}">
                      <a16:colId xmlns:a16="http://schemas.microsoft.com/office/drawing/2014/main" val="3087811967"/>
                    </a:ext>
                  </a:extLst>
                </a:gridCol>
                <a:gridCol w="7014095">
                  <a:extLst>
                    <a:ext uri="{9D8B030D-6E8A-4147-A177-3AD203B41FA5}">
                      <a16:colId xmlns:a16="http://schemas.microsoft.com/office/drawing/2014/main" val="281153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4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61225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1E89A3F0-5A52-AD7A-FB9A-824E2E7D6624}"/>
              </a:ext>
            </a:extLst>
          </p:cNvPr>
          <p:cNvGrpSpPr/>
          <p:nvPr/>
        </p:nvGrpSpPr>
        <p:grpSpPr>
          <a:xfrm>
            <a:off x="151361" y="1092313"/>
            <a:ext cx="8128000" cy="5066413"/>
            <a:chOff x="151361" y="1047308"/>
            <a:chExt cx="8128000" cy="5066413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0D54B2F-D6E3-7BC7-E878-75E7821EA88D}"/>
                </a:ext>
              </a:extLst>
            </p:cNvPr>
            <p:cNvGrpSpPr/>
            <p:nvPr/>
          </p:nvGrpSpPr>
          <p:grpSpPr>
            <a:xfrm>
              <a:off x="151361" y="1047308"/>
              <a:ext cx="8128000" cy="5066413"/>
              <a:chOff x="151361" y="1047308"/>
              <a:chExt cx="8128000" cy="5066413"/>
            </a:xfrm>
          </p:grpSpPr>
          <p:sp>
            <p:nvSpPr>
              <p:cNvPr id="33" name="직사각형 32"/>
              <p:cNvSpPr/>
              <p:nvPr/>
            </p:nvSpPr>
            <p:spPr>
              <a:xfrm>
                <a:off x="151361" y="1047308"/>
                <a:ext cx="8128000" cy="50664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3200" dirty="0">
                    <a:solidFill>
                      <a:schemeClr val="tx1"/>
                    </a:solidFill>
                  </a:rPr>
                  <a:t>회원가입</a:t>
                </a:r>
                <a:endParaRPr lang="en-US" altLang="ko-KR" sz="3200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3CC6D942-65D0-D037-62A9-63D02B9BCBD5}"/>
                  </a:ext>
                </a:extLst>
              </p:cNvPr>
              <p:cNvSpPr/>
              <p:nvPr/>
            </p:nvSpPr>
            <p:spPr>
              <a:xfrm>
                <a:off x="554670" y="2001667"/>
                <a:ext cx="7321380" cy="56321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ID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B7E5CE09-0728-4CB1-AAB0-3E51CC4177C4}"/>
                  </a:ext>
                </a:extLst>
              </p:cNvPr>
              <p:cNvSpPr/>
              <p:nvPr/>
            </p:nvSpPr>
            <p:spPr>
              <a:xfrm>
                <a:off x="554670" y="2750233"/>
                <a:ext cx="7321380" cy="56321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dirty="0">
                    <a:solidFill>
                      <a:schemeClr val="tx1"/>
                    </a:solidFill>
                  </a:rPr>
                  <a:t>비밀번호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F6F0AD19-8135-BEF3-7F14-21BC03C28487}"/>
                  </a:ext>
                </a:extLst>
              </p:cNvPr>
              <p:cNvSpPr/>
              <p:nvPr/>
            </p:nvSpPr>
            <p:spPr>
              <a:xfrm>
                <a:off x="563090" y="5002923"/>
                <a:ext cx="7321380" cy="56321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회원가입</a:t>
                </a: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75DF1402-5B71-9CB9-FBB3-526EC80AE027}"/>
                  </a:ext>
                </a:extLst>
              </p:cNvPr>
              <p:cNvSpPr/>
              <p:nvPr/>
            </p:nvSpPr>
            <p:spPr>
              <a:xfrm>
                <a:off x="563090" y="3398437"/>
                <a:ext cx="7321380" cy="56321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dirty="0">
                    <a:solidFill>
                      <a:schemeClr val="tx1"/>
                    </a:solidFill>
                  </a:rPr>
                  <a:t>비밀번호 확인</a:t>
                </a: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BD92E96B-D334-46B3-64E9-D60DD7B85FD5}"/>
                  </a:ext>
                </a:extLst>
              </p:cNvPr>
              <p:cNvSpPr/>
              <p:nvPr/>
            </p:nvSpPr>
            <p:spPr>
              <a:xfrm>
                <a:off x="581269" y="4147003"/>
                <a:ext cx="7321380" cy="56321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dirty="0">
                    <a:solidFill>
                      <a:schemeClr val="tx1"/>
                    </a:solidFill>
                  </a:rPr>
                  <a:t>이메일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FD5DDC-FF46-D12D-EC91-20AB11F7677B}"/>
                  </a:ext>
                </a:extLst>
              </p:cNvPr>
              <p:cNvSpPr txBox="1"/>
              <p:nvPr/>
            </p:nvSpPr>
            <p:spPr>
              <a:xfrm>
                <a:off x="228568" y="1811833"/>
                <a:ext cx="326102" cy="379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1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93E94F-1DE8-C960-6BCE-2816C79C64C7}"/>
                  </a:ext>
                </a:extLst>
              </p:cNvPr>
              <p:cNvSpPr txBox="1"/>
              <p:nvPr/>
            </p:nvSpPr>
            <p:spPr>
              <a:xfrm>
                <a:off x="228568" y="3342623"/>
                <a:ext cx="326102" cy="379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2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CAF78E3-C85D-172D-D769-FC5DB855DBC8}"/>
                  </a:ext>
                </a:extLst>
              </p:cNvPr>
              <p:cNvSpPr txBox="1"/>
              <p:nvPr/>
            </p:nvSpPr>
            <p:spPr>
              <a:xfrm>
                <a:off x="255167" y="4070846"/>
                <a:ext cx="326102" cy="379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3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31E084C-DA51-2198-836A-5AD1ACBE1A07}"/>
                  </a:ext>
                </a:extLst>
              </p:cNvPr>
              <p:cNvSpPr txBox="1"/>
              <p:nvPr/>
            </p:nvSpPr>
            <p:spPr>
              <a:xfrm>
                <a:off x="3420822" y="5072789"/>
                <a:ext cx="326102" cy="3796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FF0000"/>
                    </a:solidFill>
                  </a:rPr>
                  <a:t>4</a:t>
                </a:r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7EF6C44-F43F-4944-0E71-2CC743D6BEBA}"/>
                </a:ext>
              </a:extLst>
            </p:cNvPr>
            <p:cNvSpPr/>
            <p:nvPr/>
          </p:nvSpPr>
          <p:spPr>
            <a:xfrm>
              <a:off x="554670" y="5729566"/>
              <a:ext cx="1434984" cy="29376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뒤로 가기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1289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F2916CF-B5B5-FBA2-C11B-5BEB7C75E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6421"/>
              </p:ext>
            </p:extLst>
          </p:nvPr>
        </p:nvGraphicFramePr>
        <p:xfrm>
          <a:off x="8410880" y="55993"/>
          <a:ext cx="3703780" cy="6227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756">
                  <a:extLst>
                    <a:ext uri="{9D8B030D-6E8A-4147-A177-3AD203B41FA5}">
                      <a16:colId xmlns:a16="http://schemas.microsoft.com/office/drawing/2014/main" val="362593305"/>
                    </a:ext>
                  </a:extLst>
                </a:gridCol>
                <a:gridCol w="2963024">
                  <a:extLst>
                    <a:ext uri="{9D8B030D-6E8A-4147-A177-3AD203B41FA5}">
                      <a16:colId xmlns:a16="http://schemas.microsoft.com/office/drawing/2014/main" val="89728569"/>
                    </a:ext>
                  </a:extLst>
                </a:gridCol>
              </a:tblGrid>
              <a:tr h="20510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이메일을 입력해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ID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및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PASSWD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를 찾아낸다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80288"/>
                  </a:ext>
                </a:extLst>
              </a:tr>
              <a:tr h="21257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u="none" dirty="0">
                          <a:solidFill>
                            <a:schemeClr val="tx1"/>
                          </a:solidFill>
                        </a:rPr>
                        <a:t>찾은 아이디와 비밀번호를 표시한다</a:t>
                      </a:r>
                      <a:r>
                        <a:rPr lang="en-US" altLang="ko-KR" sz="1400" b="0" u="none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36463"/>
                  </a:ext>
                </a:extLst>
              </a:tr>
              <a:tr h="20510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로그인 창으로 이동한다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643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84BAECF-08E5-C6EB-5804-F2B098CA2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237940"/>
              </p:ext>
            </p:extLst>
          </p:nvPr>
        </p:nvGraphicFramePr>
        <p:xfrm>
          <a:off x="151361" y="55835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905">
                  <a:extLst>
                    <a:ext uri="{9D8B030D-6E8A-4147-A177-3AD203B41FA5}">
                      <a16:colId xmlns:a16="http://schemas.microsoft.com/office/drawing/2014/main" val="3087811967"/>
                    </a:ext>
                  </a:extLst>
                </a:gridCol>
                <a:gridCol w="7014095">
                  <a:extLst>
                    <a:ext uri="{9D8B030D-6E8A-4147-A177-3AD203B41FA5}">
                      <a16:colId xmlns:a16="http://schemas.microsoft.com/office/drawing/2014/main" val="281153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ID &amp; PASSWD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찾기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4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ID &amp; PASSWD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찾기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61225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DAFECA3A-0243-2DC6-E318-B70AB0AC2C4A}"/>
              </a:ext>
            </a:extLst>
          </p:cNvPr>
          <p:cNvGrpSpPr/>
          <p:nvPr/>
        </p:nvGrpSpPr>
        <p:grpSpPr>
          <a:xfrm>
            <a:off x="151361" y="1073888"/>
            <a:ext cx="8128000" cy="5209953"/>
            <a:chOff x="151361" y="1073888"/>
            <a:chExt cx="8128000" cy="520995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603F643-61A2-3A59-1267-D1CCC70052B0}"/>
                </a:ext>
              </a:extLst>
            </p:cNvPr>
            <p:cNvSpPr/>
            <p:nvPr/>
          </p:nvSpPr>
          <p:spPr>
            <a:xfrm>
              <a:off x="151361" y="1073888"/>
              <a:ext cx="8128000" cy="52099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ID &amp; PASSWD </a:t>
              </a:r>
              <a:r>
                <a:rPr lang="ko-KR" altLang="en-US" dirty="0">
                  <a:solidFill>
                    <a:schemeClr val="tx1"/>
                  </a:solidFill>
                </a:rPr>
                <a:t>찾기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035230E-4566-F615-1BEE-6D844ADD1BB5}"/>
                </a:ext>
              </a:extLst>
            </p:cNvPr>
            <p:cNvSpPr/>
            <p:nvPr/>
          </p:nvSpPr>
          <p:spPr>
            <a:xfrm>
              <a:off x="498020" y="3301100"/>
              <a:ext cx="7321380" cy="57916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dirty="0">
                  <a:solidFill>
                    <a:schemeClr val="tx1"/>
                  </a:solidFill>
                </a:rPr>
                <a:t>찾은 </a:t>
              </a:r>
              <a:r>
                <a:rPr lang="en-US" altLang="ko-KR" dirty="0">
                  <a:solidFill>
                    <a:schemeClr val="tx1"/>
                  </a:solidFill>
                </a:rPr>
                <a:t>ID </a:t>
              </a:r>
              <a:r>
                <a:rPr lang="ko-KR" altLang="en-US" dirty="0">
                  <a:solidFill>
                    <a:schemeClr val="tx1"/>
                  </a:solidFill>
                </a:rPr>
                <a:t>와 </a:t>
              </a:r>
              <a:r>
                <a:rPr lang="en-US" altLang="ko-KR" dirty="0">
                  <a:solidFill>
                    <a:schemeClr val="tx1"/>
                  </a:solidFill>
                </a:rPr>
                <a:t>PASSWD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2B52E3-B575-FE17-6C12-4F44D7C422C2}"/>
                </a:ext>
              </a:extLst>
            </p:cNvPr>
            <p:cNvSpPr/>
            <p:nvPr/>
          </p:nvSpPr>
          <p:spPr>
            <a:xfrm>
              <a:off x="498020" y="2247647"/>
              <a:ext cx="7321380" cy="57916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dirty="0">
                  <a:solidFill>
                    <a:schemeClr val="tx1"/>
                  </a:solidFill>
                </a:rPr>
                <a:t>이메일 입력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13E23EA-8B9F-3760-F763-84B2D4C10534}"/>
                </a:ext>
              </a:extLst>
            </p:cNvPr>
            <p:cNvSpPr/>
            <p:nvPr/>
          </p:nvSpPr>
          <p:spPr>
            <a:xfrm>
              <a:off x="498020" y="4246837"/>
              <a:ext cx="7321380" cy="57916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찾기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2EE057-5664-C6D0-9303-FF7867D600A8}"/>
                </a:ext>
              </a:extLst>
            </p:cNvPr>
            <p:cNvSpPr txBox="1"/>
            <p:nvPr/>
          </p:nvSpPr>
          <p:spPr>
            <a:xfrm>
              <a:off x="171918" y="2057813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1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78FFC0-F63C-10F9-638F-73D7A7AA1167}"/>
                </a:ext>
              </a:extLst>
            </p:cNvPr>
            <p:cNvSpPr txBox="1"/>
            <p:nvPr/>
          </p:nvSpPr>
          <p:spPr>
            <a:xfrm>
              <a:off x="151361" y="3226825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2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A667CF-2D59-2C30-B4B1-9F77800A0D7D}"/>
                </a:ext>
              </a:extLst>
            </p:cNvPr>
            <p:cNvSpPr txBox="1"/>
            <p:nvPr/>
          </p:nvSpPr>
          <p:spPr>
            <a:xfrm>
              <a:off x="3550434" y="4229518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3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50DC7AED-8082-A168-FB60-81CAE8834AA0}"/>
                </a:ext>
              </a:extLst>
            </p:cNvPr>
            <p:cNvSpPr/>
            <p:nvPr/>
          </p:nvSpPr>
          <p:spPr>
            <a:xfrm>
              <a:off x="498020" y="5853922"/>
              <a:ext cx="1434984" cy="29376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뒤로 가기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0723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DE683E6-F59A-3C6C-1A05-B1DCE51E1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519609"/>
              </p:ext>
            </p:extLst>
          </p:nvPr>
        </p:nvGraphicFramePr>
        <p:xfrm>
          <a:off x="8295871" y="87799"/>
          <a:ext cx="3703780" cy="2504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756">
                  <a:extLst>
                    <a:ext uri="{9D8B030D-6E8A-4147-A177-3AD203B41FA5}">
                      <a16:colId xmlns:a16="http://schemas.microsoft.com/office/drawing/2014/main" val="362593305"/>
                    </a:ext>
                  </a:extLst>
                </a:gridCol>
                <a:gridCol w="2963024">
                  <a:extLst>
                    <a:ext uri="{9D8B030D-6E8A-4147-A177-3AD203B41FA5}">
                      <a16:colId xmlns:a16="http://schemas.microsoft.com/office/drawing/2014/main" val="89728569"/>
                    </a:ext>
                  </a:extLst>
                </a:gridCol>
              </a:tblGrid>
              <a:tr h="12522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유저의 이름이 나타나고 누르면 유저정보 페이지로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80288"/>
                  </a:ext>
                </a:extLst>
              </a:tr>
              <a:tr h="12522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누르게 되면 로그아웃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이되면서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메인 페이지로 이동하게 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36463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144D8BE-64F7-657A-D7AF-F32CF6AFB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908305"/>
              </p:ext>
            </p:extLst>
          </p:nvPr>
        </p:nvGraphicFramePr>
        <p:xfrm>
          <a:off x="74431" y="87801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905">
                  <a:extLst>
                    <a:ext uri="{9D8B030D-6E8A-4147-A177-3AD203B41FA5}">
                      <a16:colId xmlns:a16="http://schemas.microsoft.com/office/drawing/2014/main" val="3087811967"/>
                    </a:ext>
                  </a:extLst>
                </a:gridCol>
                <a:gridCol w="7014095">
                  <a:extLst>
                    <a:ext uri="{9D8B030D-6E8A-4147-A177-3AD203B41FA5}">
                      <a16:colId xmlns:a16="http://schemas.microsoft.com/office/drawing/2014/main" val="281153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유저 메인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4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유저 메인 페이지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6122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EDAEBD4-872F-6FDE-5F2F-74DCAE3C5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162785"/>
              </p:ext>
            </p:extLst>
          </p:nvPr>
        </p:nvGraphicFramePr>
        <p:xfrm>
          <a:off x="74431" y="2682896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905">
                  <a:extLst>
                    <a:ext uri="{9D8B030D-6E8A-4147-A177-3AD203B41FA5}">
                      <a16:colId xmlns:a16="http://schemas.microsoft.com/office/drawing/2014/main" val="3087811967"/>
                    </a:ext>
                  </a:extLst>
                </a:gridCol>
                <a:gridCol w="7014095">
                  <a:extLst>
                    <a:ext uri="{9D8B030D-6E8A-4147-A177-3AD203B41FA5}">
                      <a16:colId xmlns:a16="http://schemas.microsoft.com/office/drawing/2014/main" val="281153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유저정보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4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유저 메인 페이지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유저정보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61225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8B146809-8F3F-AD10-49F5-DE80AB23D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301908"/>
              </p:ext>
            </p:extLst>
          </p:nvPr>
        </p:nvGraphicFramePr>
        <p:xfrm>
          <a:off x="8284468" y="2688893"/>
          <a:ext cx="3703780" cy="4097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756">
                  <a:extLst>
                    <a:ext uri="{9D8B030D-6E8A-4147-A177-3AD203B41FA5}">
                      <a16:colId xmlns:a16="http://schemas.microsoft.com/office/drawing/2014/main" val="362593305"/>
                    </a:ext>
                  </a:extLst>
                </a:gridCol>
                <a:gridCol w="2963024">
                  <a:extLst>
                    <a:ext uri="{9D8B030D-6E8A-4147-A177-3AD203B41FA5}">
                      <a16:colId xmlns:a16="http://schemas.microsoft.com/office/drawing/2014/main" val="89728569"/>
                    </a:ext>
                  </a:extLst>
                </a:gridCol>
              </a:tblGrid>
              <a:tr h="394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사용자가 좋아요 한 영화 번호가 나열되며 누르면 해당 영화 상세페이지로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80288"/>
                  </a:ext>
                </a:extLst>
              </a:tr>
              <a:tr h="6922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자신이 작성한 영화 번호와 댓글 작성일이 페이지형식으로 나타나고 삭제버튼을 눌러 지울 수 있다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36463"/>
                  </a:ext>
                </a:extLst>
              </a:tr>
              <a:tr h="3948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누르면 정보 수정 창이 나타난다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6436"/>
                  </a:ext>
                </a:extLst>
              </a:tr>
              <a:tr h="894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비밀번호를 바꿀 수 있다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193023"/>
                  </a:ext>
                </a:extLst>
              </a:tr>
              <a:tr h="6140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계정 삭제 버튼을 누르면 삭제와 아니요 가 나타나며 삭제버튼을 누르면 계정이 삭제된다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939661"/>
                  </a:ext>
                </a:extLst>
              </a:tr>
              <a:tr h="6140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이전 페이지로 이동한다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222072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848F2ABC-3588-3EAD-8A4F-14D07A80CEE4}"/>
              </a:ext>
            </a:extLst>
          </p:cNvPr>
          <p:cNvGrpSpPr/>
          <p:nvPr/>
        </p:nvGrpSpPr>
        <p:grpSpPr>
          <a:xfrm>
            <a:off x="74431" y="1096520"/>
            <a:ext cx="8128000" cy="1495689"/>
            <a:chOff x="74431" y="1096520"/>
            <a:chExt cx="8128000" cy="1495689"/>
          </a:xfrm>
        </p:grpSpPr>
        <p:grpSp>
          <p:nvGrpSpPr>
            <p:cNvPr id="35" name="그룹 34"/>
            <p:cNvGrpSpPr/>
            <p:nvPr/>
          </p:nvGrpSpPr>
          <p:grpSpPr>
            <a:xfrm>
              <a:off x="74431" y="1096520"/>
              <a:ext cx="8128000" cy="1495689"/>
              <a:chOff x="141514" y="348344"/>
              <a:chExt cx="8066315" cy="2525485"/>
            </a:xfrm>
          </p:grpSpPr>
          <p:sp>
            <p:nvSpPr>
              <p:cNvPr id="36" name="직사각형 35"/>
              <p:cNvSpPr/>
              <p:nvPr/>
            </p:nvSpPr>
            <p:spPr>
              <a:xfrm>
                <a:off x="141514" y="348344"/>
                <a:ext cx="8066315" cy="252548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/>
              <p:cNvSpPr/>
              <p:nvPr/>
            </p:nvSpPr>
            <p:spPr>
              <a:xfrm>
                <a:off x="1371601" y="1302719"/>
                <a:ext cx="4923208" cy="25412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검색창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1371601" y="1612107"/>
                <a:ext cx="4923208" cy="28830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필터</a:t>
                </a:r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1371600" y="1955677"/>
                <a:ext cx="761999" cy="18908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정렬</a:t>
                </a:r>
                <a:endParaRPr lang="en-US" altLang="ko-KR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7029554" y="463539"/>
                <a:ext cx="816428" cy="23651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logout</a:t>
                </a: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6003268" y="463539"/>
                <a:ext cx="976849" cy="21424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00" dirty="0">
                    <a:solidFill>
                      <a:schemeClr val="tx1"/>
                    </a:solidFill>
                  </a:rPr>
                  <a:t>User Info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E35648-3D30-9B37-8E44-A3E32F9489D6}"/>
                </a:ext>
              </a:extLst>
            </p:cNvPr>
            <p:cNvSpPr txBox="1"/>
            <p:nvPr/>
          </p:nvSpPr>
          <p:spPr>
            <a:xfrm>
              <a:off x="5932949" y="1186438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1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6BEEC9-3122-542B-A2C4-DADAFD6268B9}"/>
                </a:ext>
              </a:extLst>
            </p:cNvPr>
            <p:cNvSpPr txBox="1"/>
            <p:nvPr/>
          </p:nvSpPr>
          <p:spPr>
            <a:xfrm>
              <a:off x="6944291" y="1151871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2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EE2576E-B796-5D69-5042-21AA6623E222}"/>
              </a:ext>
            </a:extLst>
          </p:cNvPr>
          <p:cNvGrpSpPr/>
          <p:nvPr/>
        </p:nvGrpSpPr>
        <p:grpSpPr>
          <a:xfrm>
            <a:off x="1066541" y="3754644"/>
            <a:ext cx="6609179" cy="2734200"/>
            <a:chOff x="1066541" y="3754644"/>
            <a:chExt cx="6609179" cy="2734200"/>
          </a:xfrm>
        </p:grpSpPr>
        <p:sp>
          <p:nvSpPr>
            <p:cNvPr id="44" name="직사각형 43"/>
            <p:cNvSpPr/>
            <p:nvPr/>
          </p:nvSpPr>
          <p:spPr>
            <a:xfrm>
              <a:off x="1298193" y="3754644"/>
              <a:ext cx="4960858" cy="2853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사용자 정보</a:t>
              </a: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298193" y="4126991"/>
              <a:ext cx="4960858" cy="2084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아이디</a:t>
              </a: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5484536" y="6226053"/>
              <a:ext cx="767825" cy="2122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정보 수정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1298193" y="4391070"/>
              <a:ext cx="4960858" cy="2084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이메일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1298193" y="5449692"/>
              <a:ext cx="4960858" cy="2084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좋아요한</a:t>
              </a:r>
              <a:r>
                <a:rPr lang="ko-KR" altLang="en-US" sz="1000" dirty="0">
                  <a:solidFill>
                    <a:schemeClr val="tx1"/>
                  </a:solidFill>
                </a:rPr>
                <a:t> 영화 번호</a:t>
              </a: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1298193" y="5729815"/>
              <a:ext cx="4960858" cy="23362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>
                  <a:solidFill>
                    <a:schemeClr val="tx1"/>
                  </a:solidFill>
                </a:rPr>
                <a:t>작성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댓글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1A6FD6B-2434-4B45-16FD-A72F8211FED5}"/>
                </a:ext>
              </a:extLst>
            </p:cNvPr>
            <p:cNvSpPr txBox="1"/>
            <p:nvPr/>
          </p:nvSpPr>
          <p:spPr>
            <a:xfrm>
              <a:off x="5228045" y="6109177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3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D3CAC11-2BB5-EBB5-1A8E-2755B548744F}"/>
                </a:ext>
              </a:extLst>
            </p:cNvPr>
            <p:cNvSpPr txBox="1"/>
            <p:nvPr/>
          </p:nvSpPr>
          <p:spPr>
            <a:xfrm>
              <a:off x="2943232" y="5329430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1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9BDD1EE-2371-D031-9DD4-71DD433C0DBE}"/>
                </a:ext>
              </a:extLst>
            </p:cNvPr>
            <p:cNvSpPr txBox="1"/>
            <p:nvPr/>
          </p:nvSpPr>
          <p:spPr>
            <a:xfrm>
              <a:off x="3232120" y="5646702"/>
              <a:ext cx="296294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2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7DE45080-98AA-375D-6204-81195A8372F0}"/>
                </a:ext>
              </a:extLst>
            </p:cNvPr>
            <p:cNvSpPr/>
            <p:nvPr/>
          </p:nvSpPr>
          <p:spPr>
            <a:xfrm>
              <a:off x="6407377" y="4139053"/>
              <a:ext cx="1268343" cy="18243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정보 수정 창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4BA5E8F-5AB2-E7C1-EB90-7107C993A92B}"/>
                </a:ext>
              </a:extLst>
            </p:cNvPr>
            <p:cNvSpPr/>
            <p:nvPr/>
          </p:nvSpPr>
          <p:spPr>
            <a:xfrm>
              <a:off x="1291503" y="4640788"/>
              <a:ext cx="4960858" cy="2084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비밀번호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C6CBE54-E779-E592-EFD3-59921E6B2060}"/>
                </a:ext>
              </a:extLst>
            </p:cNvPr>
            <p:cNvSpPr/>
            <p:nvPr/>
          </p:nvSpPr>
          <p:spPr>
            <a:xfrm>
              <a:off x="1298193" y="4904867"/>
              <a:ext cx="4960858" cy="2084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회원 아이디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D063E22-81D0-3661-B1E7-52A8B5116669}"/>
                </a:ext>
              </a:extLst>
            </p:cNvPr>
            <p:cNvSpPr/>
            <p:nvPr/>
          </p:nvSpPr>
          <p:spPr>
            <a:xfrm>
              <a:off x="1291503" y="5185614"/>
              <a:ext cx="4960858" cy="2084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로그인한 날짜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8235594-5781-5EEB-F464-468137DA2742}"/>
                </a:ext>
              </a:extLst>
            </p:cNvPr>
            <p:cNvSpPr/>
            <p:nvPr/>
          </p:nvSpPr>
          <p:spPr>
            <a:xfrm>
              <a:off x="2121237" y="6231617"/>
              <a:ext cx="767825" cy="2122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계정 삭제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C163575-E455-2E4F-06C6-9A4C9CA533B4}"/>
                </a:ext>
              </a:extLst>
            </p:cNvPr>
            <p:cNvSpPr/>
            <p:nvPr/>
          </p:nvSpPr>
          <p:spPr>
            <a:xfrm>
              <a:off x="1291502" y="6231617"/>
              <a:ext cx="767825" cy="2122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뒤로 가기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99EABB2-84D6-5E4F-469B-33B3D07890AA}"/>
                </a:ext>
              </a:extLst>
            </p:cNvPr>
            <p:cNvSpPr txBox="1"/>
            <p:nvPr/>
          </p:nvSpPr>
          <p:spPr>
            <a:xfrm>
              <a:off x="1066541" y="5996839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6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00CF45-F0F0-AE73-1E24-916A204FD1C4}"/>
                </a:ext>
              </a:extLst>
            </p:cNvPr>
            <p:cNvSpPr txBox="1"/>
            <p:nvPr/>
          </p:nvSpPr>
          <p:spPr>
            <a:xfrm>
              <a:off x="2055223" y="5996838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5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903657-6A80-4C9C-5CF3-65399D4EDF49}"/>
                </a:ext>
              </a:extLst>
            </p:cNvPr>
            <p:cNvSpPr txBox="1"/>
            <p:nvPr/>
          </p:nvSpPr>
          <p:spPr>
            <a:xfrm>
              <a:off x="6400687" y="4599554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4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4187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DE683E6-F59A-3C6C-1A05-B1DCE51E1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251448"/>
              </p:ext>
            </p:extLst>
          </p:nvPr>
        </p:nvGraphicFramePr>
        <p:xfrm>
          <a:off x="8295871" y="87801"/>
          <a:ext cx="3703780" cy="6076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756">
                  <a:extLst>
                    <a:ext uri="{9D8B030D-6E8A-4147-A177-3AD203B41FA5}">
                      <a16:colId xmlns:a16="http://schemas.microsoft.com/office/drawing/2014/main" val="362593305"/>
                    </a:ext>
                  </a:extLst>
                </a:gridCol>
                <a:gridCol w="2963024">
                  <a:extLst>
                    <a:ext uri="{9D8B030D-6E8A-4147-A177-3AD203B41FA5}">
                      <a16:colId xmlns:a16="http://schemas.microsoft.com/office/drawing/2014/main" val="89728569"/>
                    </a:ext>
                  </a:extLst>
                </a:gridCol>
              </a:tblGrid>
              <a:tr h="6076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정보 수정 페이지로 이동한다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80288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144D8BE-64F7-657A-D7AF-F32CF6AFB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182661"/>
              </p:ext>
            </p:extLst>
          </p:nvPr>
        </p:nvGraphicFramePr>
        <p:xfrm>
          <a:off x="74431" y="87801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905">
                  <a:extLst>
                    <a:ext uri="{9D8B030D-6E8A-4147-A177-3AD203B41FA5}">
                      <a16:colId xmlns:a16="http://schemas.microsoft.com/office/drawing/2014/main" val="3087811967"/>
                    </a:ext>
                  </a:extLst>
                </a:gridCol>
                <a:gridCol w="7014095">
                  <a:extLst>
                    <a:ext uri="{9D8B030D-6E8A-4147-A177-3AD203B41FA5}">
                      <a16:colId xmlns:a16="http://schemas.microsoft.com/office/drawing/2014/main" val="281153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관리자 메인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4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관리자 메인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61225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EDAEBD4-872F-6FDE-5F2F-74DCAE3C5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657625"/>
              </p:ext>
            </p:extLst>
          </p:nvPr>
        </p:nvGraphicFramePr>
        <p:xfrm>
          <a:off x="74431" y="2921367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905">
                  <a:extLst>
                    <a:ext uri="{9D8B030D-6E8A-4147-A177-3AD203B41FA5}">
                      <a16:colId xmlns:a16="http://schemas.microsoft.com/office/drawing/2014/main" val="3087811967"/>
                    </a:ext>
                  </a:extLst>
                </a:gridCol>
                <a:gridCol w="7014095">
                  <a:extLst>
                    <a:ext uri="{9D8B030D-6E8A-4147-A177-3AD203B41FA5}">
                      <a16:colId xmlns:a16="http://schemas.microsoft.com/office/drawing/2014/main" val="281153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정보수정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4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관리자 메인 페이지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관리자 페이지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61225"/>
                  </a:ext>
                </a:extLst>
              </a:tr>
            </a:tbl>
          </a:graphicData>
        </a:graphic>
      </p:graphicFrame>
      <p:grpSp>
        <p:nvGrpSpPr>
          <p:cNvPr id="55" name="그룹 54">
            <a:extLst>
              <a:ext uri="{FF2B5EF4-FFF2-40B4-BE49-F238E27FC236}">
                <a16:creationId xmlns:a16="http://schemas.microsoft.com/office/drawing/2014/main" id="{99CA3335-9460-A0CE-1F36-02EEAAE62038}"/>
              </a:ext>
            </a:extLst>
          </p:cNvPr>
          <p:cNvGrpSpPr/>
          <p:nvPr/>
        </p:nvGrpSpPr>
        <p:grpSpPr>
          <a:xfrm>
            <a:off x="1313924" y="1103018"/>
            <a:ext cx="6689614" cy="1202088"/>
            <a:chOff x="1313924" y="1103018"/>
            <a:chExt cx="6689614" cy="120208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2B3FC22-0920-466E-0AF0-09AF542D25AB}"/>
                </a:ext>
              </a:extLst>
            </p:cNvPr>
            <p:cNvSpPr/>
            <p:nvPr/>
          </p:nvSpPr>
          <p:spPr>
            <a:xfrm>
              <a:off x="1313925" y="1688125"/>
              <a:ext cx="4960857" cy="1862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검색창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A98F976-2ABD-12EF-B291-2E09136E4885}"/>
                </a:ext>
              </a:extLst>
            </p:cNvPr>
            <p:cNvSpPr/>
            <p:nvPr/>
          </p:nvSpPr>
          <p:spPr>
            <a:xfrm>
              <a:off x="1313925" y="1914820"/>
              <a:ext cx="4960857" cy="2112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필터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A9E244F-5C91-4596-AA03-104964BE9B88}"/>
                </a:ext>
              </a:extLst>
            </p:cNvPr>
            <p:cNvSpPr/>
            <p:nvPr/>
          </p:nvSpPr>
          <p:spPr>
            <a:xfrm>
              <a:off x="1313924" y="2166559"/>
              <a:ext cx="767826" cy="13854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정렬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C08CE99-0C6F-26DF-6DA8-7E959D545FD6}"/>
                </a:ext>
              </a:extLst>
            </p:cNvPr>
            <p:cNvSpPr/>
            <p:nvPr/>
          </p:nvSpPr>
          <p:spPr>
            <a:xfrm>
              <a:off x="7180867" y="1103018"/>
              <a:ext cx="822671" cy="1569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logout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0FC9234-2F0E-1C27-F65A-65EC407C5C94}"/>
                </a:ext>
              </a:extLst>
            </p:cNvPr>
            <p:cNvSpPr/>
            <p:nvPr/>
          </p:nvSpPr>
          <p:spPr>
            <a:xfrm>
              <a:off x="6084979" y="1103018"/>
              <a:ext cx="1060961" cy="1569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6D16B93-C0CF-282C-225B-EA0B308D1DBB}"/>
              </a:ext>
            </a:extLst>
          </p:cNvPr>
          <p:cNvSpPr txBox="1"/>
          <p:nvPr/>
        </p:nvSpPr>
        <p:spPr>
          <a:xfrm>
            <a:off x="6096000" y="927741"/>
            <a:ext cx="326102" cy="379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1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7869FE55-3EB9-5029-80A0-3AF30C8C9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008999"/>
              </p:ext>
            </p:extLst>
          </p:nvPr>
        </p:nvGraphicFramePr>
        <p:xfrm>
          <a:off x="8284468" y="2921367"/>
          <a:ext cx="3703780" cy="3848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756">
                  <a:extLst>
                    <a:ext uri="{9D8B030D-6E8A-4147-A177-3AD203B41FA5}">
                      <a16:colId xmlns:a16="http://schemas.microsoft.com/office/drawing/2014/main" val="362593305"/>
                    </a:ext>
                  </a:extLst>
                </a:gridCol>
                <a:gridCol w="2963024">
                  <a:extLst>
                    <a:ext uri="{9D8B030D-6E8A-4147-A177-3AD203B41FA5}">
                      <a16:colId xmlns:a16="http://schemas.microsoft.com/office/drawing/2014/main" val="89728569"/>
                    </a:ext>
                  </a:extLst>
                </a:gridCol>
              </a:tblGrid>
              <a:tr h="15079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버튼을 누르게 되면 영화 정보가 있는 팝업창이 나타나게 된다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80288"/>
                  </a:ext>
                </a:extLst>
              </a:tr>
              <a:tr h="11012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버튼을 누르면 회원 정보창을 나타나게 하거나 닫기를 누러 닫을 수 있다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36463"/>
                  </a:ext>
                </a:extLst>
              </a:tr>
              <a:tr h="1239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회원의 번호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로그인 상태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로그인 시간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좋아요 한 영화 번호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관리 회원 번호가 나타나고 좋아요 한 영화를 수정할 수 있고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사용자를 삭제할 수 있다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222072"/>
                  </a:ext>
                </a:extLst>
              </a:tr>
            </a:tbl>
          </a:graphicData>
        </a:graphic>
      </p:graphicFrame>
      <p:sp>
        <p:nvSpPr>
          <p:cNvPr id="49" name="직사각형 48">
            <a:extLst>
              <a:ext uri="{FF2B5EF4-FFF2-40B4-BE49-F238E27FC236}">
                <a16:creationId xmlns:a16="http://schemas.microsoft.com/office/drawing/2014/main" id="{FDDB4B27-4414-BDAF-2F75-057047AE0C74}"/>
              </a:ext>
            </a:extLst>
          </p:cNvPr>
          <p:cNvSpPr/>
          <p:nvPr/>
        </p:nvSpPr>
        <p:spPr>
          <a:xfrm>
            <a:off x="4214493" y="5540605"/>
            <a:ext cx="1034060" cy="3796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영화 정보 관리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676F6B1-8367-899F-325D-F638E4D888C4}"/>
              </a:ext>
            </a:extLst>
          </p:cNvPr>
          <p:cNvGrpSpPr/>
          <p:nvPr/>
        </p:nvGrpSpPr>
        <p:grpSpPr>
          <a:xfrm>
            <a:off x="1269363" y="3754644"/>
            <a:ext cx="6406357" cy="2400758"/>
            <a:chOff x="1269363" y="3754644"/>
            <a:chExt cx="6406357" cy="2400758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E2F4077D-C8A3-F5FF-D008-F515B25B6912}"/>
                </a:ext>
              </a:extLst>
            </p:cNvPr>
            <p:cNvSpPr/>
            <p:nvPr/>
          </p:nvSpPr>
          <p:spPr>
            <a:xfrm>
              <a:off x="1298193" y="3754644"/>
              <a:ext cx="4960858" cy="2853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관리자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104D294-A32B-29C4-55E2-160570285B96}"/>
                </a:ext>
              </a:extLst>
            </p:cNvPr>
            <p:cNvSpPr/>
            <p:nvPr/>
          </p:nvSpPr>
          <p:spPr>
            <a:xfrm>
              <a:off x="1298193" y="4126991"/>
              <a:ext cx="4960858" cy="2084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아이디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F7475EA-7797-B7DB-E15A-3ABBA0B42D99}"/>
                </a:ext>
              </a:extLst>
            </p:cNvPr>
            <p:cNvSpPr/>
            <p:nvPr/>
          </p:nvSpPr>
          <p:spPr>
            <a:xfrm>
              <a:off x="5381461" y="5535758"/>
              <a:ext cx="767825" cy="37966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정보 수정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BBE3F90-0344-4E0D-1E14-1D82408FE739}"/>
                </a:ext>
              </a:extLst>
            </p:cNvPr>
            <p:cNvSpPr/>
            <p:nvPr/>
          </p:nvSpPr>
          <p:spPr>
            <a:xfrm>
              <a:off x="1298193" y="4391070"/>
              <a:ext cx="4960858" cy="2084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이메일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1FB229D-47F4-468A-C979-E7BC7C0CEB45}"/>
                </a:ext>
              </a:extLst>
            </p:cNvPr>
            <p:cNvSpPr txBox="1"/>
            <p:nvPr/>
          </p:nvSpPr>
          <p:spPr>
            <a:xfrm>
              <a:off x="2943232" y="5329430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B6E382E-A554-076E-DDEB-795B37E8DEC9}"/>
                </a:ext>
              </a:extLst>
            </p:cNvPr>
            <p:cNvSpPr txBox="1"/>
            <p:nvPr/>
          </p:nvSpPr>
          <p:spPr>
            <a:xfrm>
              <a:off x="3232120" y="5646702"/>
              <a:ext cx="296294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8D6ABF7A-0F48-E0B2-1DA1-B7203A1F1CEC}"/>
                </a:ext>
              </a:extLst>
            </p:cNvPr>
            <p:cNvSpPr/>
            <p:nvPr/>
          </p:nvSpPr>
          <p:spPr>
            <a:xfrm>
              <a:off x="6407377" y="4139053"/>
              <a:ext cx="1268343" cy="18243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정보 수정 창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BD8563B5-B76D-B61A-BD8F-D0216E1B2076}"/>
                </a:ext>
              </a:extLst>
            </p:cNvPr>
            <p:cNvSpPr/>
            <p:nvPr/>
          </p:nvSpPr>
          <p:spPr>
            <a:xfrm>
              <a:off x="1291503" y="4640788"/>
              <a:ext cx="4960858" cy="20848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비밀번호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180DD7D-2643-1232-6380-E3A9098428EC}"/>
                </a:ext>
              </a:extLst>
            </p:cNvPr>
            <p:cNvSpPr/>
            <p:nvPr/>
          </p:nvSpPr>
          <p:spPr>
            <a:xfrm>
              <a:off x="1298193" y="4904867"/>
              <a:ext cx="4960858" cy="2084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회원 아이디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CE0EFE7-B2B2-6B41-E33E-92623CD97442}"/>
                </a:ext>
              </a:extLst>
            </p:cNvPr>
            <p:cNvSpPr/>
            <p:nvPr/>
          </p:nvSpPr>
          <p:spPr>
            <a:xfrm>
              <a:off x="1291503" y="5185614"/>
              <a:ext cx="4960858" cy="20848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로그인한 날짜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E94262B-34BE-0912-9AB1-EB84E7598B44}"/>
                </a:ext>
              </a:extLst>
            </p:cNvPr>
            <p:cNvSpPr/>
            <p:nvPr/>
          </p:nvSpPr>
          <p:spPr>
            <a:xfrm>
              <a:off x="3321904" y="5540605"/>
              <a:ext cx="767825" cy="37966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회원 관리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C2262B51-46CE-DFD6-6F92-47F556F2247C}"/>
                </a:ext>
              </a:extLst>
            </p:cNvPr>
            <p:cNvSpPr/>
            <p:nvPr/>
          </p:nvSpPr>
          <p:spPr>
            <a:xfrm>
              <a:off x="1269363" y="5539885"/>
              <a:ext cx="767825" cy="33472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뒤로 가기</a:t>
              </a:r>
              <a:endParaRPr lang="en-US" altLang="ko-KR" sz="1000" dirty="0">
                <a:solidFill>
                  <a:schemeClr val="tx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E8F072C-1311-5799-4CAE-349CA5ABF847}"/>
                </a:ext>
              </a:extLst>
            </p:cNvPr>
            <p:cNvSpPr txBox="1"/>
            <p:nvPr/>
          </p:nvSpPr>
          <p:spPr>
            <a:xfrm>
              <a:off x="3132568" y="5775735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2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C72A001-AAF2-06D7-F55D-EEA89020D688}"/>
                </a:ext>
              </a:extLst>
            </p:cNvPr>
            <p:cNvSpPr txBox="1"/>
            <p:nvPr/>
          </p:nvSpPr>
          <p:spPr>
            <a:xfrm>
              <a:off x="6400687" y="4599554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7CED15A-F71A-3CAA-BD60-E4853520AFB5}"/>
                </a:ext>
              </a:extLst>
            </p:cNvPr>
            <p:cNvSpPr txBox="1"/>
            <p:nvPr/>
          </p:nvSpPr>
          <p:spPr>
            <a:xfrm>
              <a:off x="4096419" y="5730438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1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B1D6E9C-4B36-14E5-37AB-8C756657059E}"/>
              </a:ext>
            </a:extLst>
          </p:cNvPr>
          <p:cNvSpPr/>
          <p:nvPr/>
        </p:nvSpPr>
        <p:spPr>
          <a:xfrm>
            <a:off x="1291503" y="6100413"/>
            <a:ext cx="4960858" cy="5198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회원 정보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F7F81E-F816-8E24-34D6-1962E62FD315}"/>
              </a:ext>
            </a:extLst>
          </p:cNvPr>
          <p:cNvSpPr txBox="1"/>
          <p:nvPr/>
        </p:nvSpPr>
        <p:spPr>
          <a:xfrm>
            <a:off x="3202312" y="6206510"/>
            <a:ext cx="326102" cy="379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3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452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84BAECF-08E5-C6EB-5804-F2B098CA2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226873"/>
              </p:ext>
            </p:extLst>
          </p:nvPr>
        </p:nvGraphicFramePr>
        <p:xfrm>
          <a:off x="151361" y="55835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3905">
                  <a:extLst>
                    <a:ext uri="{9D8B030D-6E8A-4147-A177-3AD203B41FA5}">
                      <a16:colId xmlns:a16="http://schemas.microsoft.com/office/drawing/2014/main" val="3087811967"/>
                    </a:ext>
                  </a:extLst>
                </a:gridCol>
                <a:gridCol w="7014095">
                  <a:extLst>
                    <a:ext uri="{9D8B030D-6E8A-4147-A177-3AD203B41FA5}">
                      <a16:colId xmlns:a16="http://schemas.microsoft.com/office/drawing/2014/main" val="281153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페이지 이름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영화정보관리 팝업 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94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관리자 메인 페이지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영화정보관리 팝업 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261225"/>
                  </a:ext>
                </a:extLst>
              </a:tr>
            </a:tbl>
          </a:graphicData>
        </a:graphic>
      </p:graphicFrame>
      <p:grpSp>
        <p:nvGrpSpPr>
          <p:cNvPr id="29" name="그룹 28">
            <a:extLst>
              <a:ext uri="{FF2B5EF4-FFF2-40B4-BE49-F238E27FC236}">
                <a16:creationId xmlns:a16="http://schemas.microsoft.com/office/drawing/2014/main" id="{A6DBF764-2EE1-6D40-E0FF-54498A945881}"/>
              </a:ext>
            </a:extLst>
          </p:cNvPr>
          <p:cNvGrpSpPr/>
          <p:nvPr/>
        </p:nvGrpSpPr>
        <p:grpSpPr>
          <a:xfrm>
            <a:off x="423474" y="1159625"/>
            <a:ext cx="7583774" cy="5388373"/>
            <a:chOff x="633892" y="1159625"/>
            <a:chExt cx="7583774" cy="538837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62B52E3-B575-FE17-6C12-4F44D7C422C2}"/>
                </a:ext>
              </a:extLst>
            </p:cNvPr>
            <p:cNvSpPr/>
            <p:nvPr/>
          </p:nvSpPr>
          <p:spPr>
            <a:xfrm>
              <a:off x="664384" y="1294243"/>
              <a:ext cx="875050" cy="36211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C2EE057-5664-C6D0-9303-FF7867D600A8}"/>
                </a:ext>
              </a:extLst>
            </p:cNvPr>
            <p:cNvSpPr txBox="1"/>
            <p:nvPr/>
          </p:nvSpPr>
          <p:spPr>
            <a:xfrm>
              <a:off x="633892" y="1159625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1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4989838-B9AE-02A7-E858-687F00BC032C}"/>
                </a:ext>
              </a:extLst>
            </p:cNvPr>
            <p:cNvSpPr/>
            <p:nvPr/>
          </p:nvSpPr>
          <p:spPr>
            <a:xfrm>
              <a:off x="5858644" y="1755860"/>
              <a:ext cx="2359022" cy="28664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영화 정보 입력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EB2CF71-CB50-E8F4-7B1F-071ADBC5216D}"/>
                </a:ext>
              </a:extLst>
            </p:cNvPr>
            <p:cNvSpPr/>
            <p:nvPr/>
          </p:nvSpPr>
          <p:spPr>
            <a:xfrm>
              <a:off x="1601126" y="1294243"/>
              <a:ext cx="748535" cy="36211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정렬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0FB9587-7B81-7E14-0813-44F8F397F83D}"/>
                </a:ext>
              </a:extLst>
            </p:cNvPr>
            <p:cNvSpPr/>
            <p:nvPr/>
          </p:nvSpPr>
          <p:spPr>
            <a:xfrm>
              <a:off x="2411354" y="1294243"/>
              <a:ext cx="748534" cy="36211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CF33CA9-3287-357A-79FF-276B8186EB7C}"/>
                </a:ext>
              </a:extLst>
            </p:cNvPr>
            <p:cNvSpPr/>
            <p:nvPr/>
          </p:nvSpPr>
          <p:spPr>
            <a:xfrm>
              <a:off x="636917" y="1755860"/>
              <a:ext cx="5081982" cy="479213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영화 정보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15F60F2-73E3-028F-697C-B4BB3C853321}"/>
                </a:ext>
              </a:extLst>
            </p:cNvPr>
            <p:cNvSpPr/>
            <p:nvPr/>
          </p:nvSpPr>
          <p:spPr>
            <a:xfrm>
              <a:off x="5848676" y="1321670"/>
              <a:ext cx="748536" cy="3474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적용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0599F72-6681-DA09-6106-D8709995FEF6}"/>
                </a:ext>
              </a:extLst>
            </p:cNvPr>
            <p:cNvSpPr/>
            <p:nvPr/>
          </p:nvSpPr>
          <p:spPr>
            <a:xfrm>
              <a:off x="6658904" y="1321670"/>
              <a:ext cx="748535" cy="3474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추가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980213C-5B76-E917-1197-9DC822F13111}"/>
                </a:ext>
              </a:extLst>
            </p:cNvPr>
            <p:cNvSpPr/>
            <p:nvPr/>
          </p:nvSpPr>
          <p:spPr>
            <a:xfrm>
              <a:off x="7469132" y="1321670"/>
              <a:ext cx="748534" cy="3474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삭제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5AD9C0-07E9-A7F0-DEF2-8E030C59D1F6}"/>
                </a:ext>
              </a:extLst>
            </p:cNvPr>
            <p:cNvSpPr txBox="1"/>
            <p:nvPr/>
          </p:nvSpPr>
          <p:spPr>
            <a:xfrm>
              <a:off x="1513503" y="1159626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2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DB38CDF-B0F5-C4A0-2867-B599D37D5C7B}"/>
                </a:ext>
              </a:extLst>
            </p:cNvPr>
            <p:cNvSpPr txBox="1"/>
            <p:nvPr/>
          </p:nvSpPr>
          <p:spPr>
            <a:xfrm>
              <a:off x="5756527" y="1159625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4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F3B622-52B6-08C4-53EC-32AE1FA975FC}"/>
                </a:ext>
              </a:extLst>
            </p:cNvPr>
            <p:cNvSpPr txBox="1"/>
            <p:nvPr/>
          </p:nvSpPr>
          <p:spPr>
            <a:xfrm>
              <a:off x="6571281" y="1159625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5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8FC6DAD-B4BF-FA60-E2F7-B5C616A467B9}"/>
                </a:ext>
              </a:extLst>
            </p:cNvPr>
            <p:cNvSpPr txBox="1"/>
            <p:nvPr/>
          </p:nvSpPr>
          <p:spPr>
            <a:xfrm>
              <a:off x="7466671" y="1159625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6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8210988-F513-26EE-BBBC-8F23736D528F}"/>
                </a:ext>
              </a:extLst>
            </p:cNvPr>
            <p:cNvSpPr txBox="1"/>
            <p:nvPr/>
          </p:nvSpPr>
          <p:spPr>
            <a:xfrm>
              <a:off x="6105826" y="2627448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7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8341F57-AB14-1AE5-EB28-73D6C6F13A02}"/>
                </a:ext>
              </a:extLst>
            </p:cNvPr>
            <p:cNvSpPr txBox="1"/>
            <p:nvPr/>
          </p:nvSpPr>
          <p:spPr>
            <a:xfrm>
              <a:off x="2419018" y="3638536"/>
              <a:ext cx="326102" cy="379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FF0000"/>
                  </a:solidFill>
                </a:rPr>
                <a:t>3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E2CF5A23-7DED-8B35-6573-54AF39D8B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872387"/>
              </p:ext>
            </p:extLst>
          </p:nvPr>
        </p:nvGraphicFramePr>
        <p:xfrm>
          <a:off x="8371510" y="93163"/>
          <a:ext cx="3703780" cy="645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481">
                  <a:extLst>
                    <a:ext uri="{9D8B030D-6E8A-4147-A177-3AD203B41FA5}">
                      <a16:colId xmlns:a16="http://schemas.microsoft.com/office/drawing/2014/main" val="362593305"/>
                    </a:ext>
                  </a:extLst>
                </a:gridCol>
                <a:gridCol w="2860299">
                  <a:extLst>
                    <a:ext uri="{9D8B030D-6E8A-4147-A177-3AD203B41FA5}">
                      <a16:colId xmlns:a16="http://schemas.microsoft.com/office/drawing/2014/main" val="89728569"/>
                    </a:ext>
                  </a:extLst>
                </a:gridCol>
              </a:tblGrid>
              <a:tr h="726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영화 번호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한글 및 영어 제목을 검색할 수 있다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380288"/>
                  </a:ext>
                </a:extLst>
              </a:tr>
              <a:tr h="726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오름차 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내림차 순으로 정렬할 수 있다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036463"/>
                  </a:ext>
                </a:extLst>
              </a:tr>
              <a:tr h="726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영화의 모든 정보가 표시된다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326436"/>
                  </a:ext>
                </a:extLst>
              </a:tr>
              <a:tr h="10252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영화 정보를 입력하고 적용을 누르면 입력한 영화번호에 적용된다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240474"/>
                  </a:ext>
                </a:extLst>
              </a:tr>
              <a:tr h="10252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한 곳이라도 입력을 했으면 자동으로 영화 번호가 생성되면서 추가된다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020541"/>
                  </a:ext>
                </a:extLst>
              </a:tr>
              <a:tr h="6587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영화 번호를 입력하고 버튼을 누르면 해당 영화가 삭제가 된다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149947"/>
                  </a:ext>
                </a:extLst>
              </a:tr>
              <a:tr h="15671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i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400" b="1" i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모든 영화의 정보를 입력할 수 있고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영화 번호를 입력해 해당 영화에만 적용할 수 있다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560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0936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3C03F66-14CA-C87F-D3F8-9C98D1AFA180}"/>
              </a:ext>
            </a:extLst>
          </p:cNvPr>
          <p:cNvSpPr txBox="1">
            <a:spLocks/>
          </p:cNvSpPr>
          <p:nvPr/>
        </p:nvSpPr>
        <p:spPr>
          <a:xfrm>
            <a:off x="604283" y="484704"/>
            <a:ext cx="4592750" cy="876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느낀 점 및 소감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E7F663A-382F-69B5-0BBA-50F8045D4784}"/>
              </a:ext>
            </a:extLst>
          </p:cNvPr>
          <p:cNvGrpSpPr/>
          <p:nvPr/>
        </p:nvGrpSpPr>
        <p:grpSpPr>
          <a:xfrm>
            <a:off x="946466" y="1685914"/>
            <a:ext cx="9974978" cy="4259118"/>
            <a:chOff x="946466" y="1685914"/>
            <a:chExt cx="9974978" cy="4259118"/>
          </a:xfrm>
        </p:grpSpPr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4FB65054-D64F-D06A-4ACC-DCA29253D06D}"/>
                </a:ext>
              </a:extLst>
            </p:cNvPr>
            <p:cNvSpPr txBox="1">
              <a:spLocks/>
            </p:cNvSpPr>
            <p:nvPr/>
          </p:nvSpPr>
          <p:spPr>
            <a:xfrm>
              <a:off x="946466" y="1747776"/>
              <a:ext cx="9974978" cy="4046785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rm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ko-KR" altLang="en-US" sz="3200" b="1" dirty="0" err="1"/>
                <a:t>윤희혁</a:t>
              </a:r>
              <a:r>
                <a:rPr lang="ko-KR" altLang="en-US" sz="3200" dirty="0"/>
                <a:t> </a:t>
              </a:r>
              <a:r>
                <a:rPr lang="en-US" altLang="ko-KR" sz="3200" dirty="0"/>
                <a:t>:</a:t>
              </a:r>
            </a:p>
            <a:p>
              <a:endParaRPr lang="en-US" altLang="ko-KR" sz="3200" dirty="0"/>
            </a:p>
            <a:p>
              <a:endParaRPr lang="en-US" altLang="ko-KR" sz="3200" dirty="0"/>
            </a:p>
            <a:p>
              <a:endParaRPr lang="en-US" altLang="ko-KR" sz="3200" dirty="0"/>
            </a:p>
            <a:p>
              <a:endParaRPr lang="en-US" altLang="ko-KR" sz="3200" b="1" dirty="0"/>
            </a:p>
            <a:p>
              <a:endParaRPr lang="en-US" altLang="ko-KR" sz="3200" b="1" dirty="0"/>
            </a:p>
            <a:p>
              <a:r>
                <a:rPr lang="ko-KR" altLang="en-US" sz="3200" b="1" dirty="0"/>
                <a:t>조민혁</a:t>
              </a:r>
              <a:r>
                <a:rPr lang="ko-KR" altLang="en-US" sz="3200" dirty="0"/>
                <a:t> </a:t>
              </a:r>
              <a:r>
                <a:rPr lang="en-US" altLang="ko-KR" sz="3200" dirty="0"/>
                <a:t>:</a:t>
              </a:r>
              <a:endParaRPr lang="ko-KR" altLang="en-US" sz="3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624CA06-E6CC-C86E-61AE-92351190A993}"/>
                </a:ext>
              </a:extLst>
            </p:cNvPr>
            <p:cNvSpPr txBox="1"/>
            <p:nvPr/>
          </p:nvSpPr>
          <p:spPr>
            <a:xfrm>
              <a:off x="2738613" y="4375372"/>
              <a:ext cx="761614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dirty="0"/>
                <a:t> 기능을 구현하면서 오류를 만났을 때 막막했지만 그 오류를 해결하고 기능이 정상적으로 작동했을 때 만족감이 좋았다</a:t>
              </a:r>
              <a:r>
                <a:rPr lang="en-US" altLang="ko-KR" sz="3200" dirty="0"/>
                <a:t>.</a:t>
              </a:r>
              <a:endParaRPr lang="ko-KR" altLang="en-US" sz="32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8B4F55-D097-0DEE-023F-85D021A06F6D}"/>
                </a:ext>
              </a:extLst>
            </p:cNvPr>
            <p:cNvSpPr txBox="1"/>
            <p:nvPr/>
          </p:nvSpPr>
          <p:spPr>
            <a:xfrm>
              <a:off x="2738613" y="1685914"/>
              <a:ext cx="7616142" cy="2062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dirty="0"/>
                <a:t> </a:t>
              </a:r>
              <a:r>
                <a:rPr lang="en-US" altLang="ko-KR" sz="3200" dirty="0"/>
                <a:t>PHP</a:t>
              </a:r>
              <a:r>
                <a:rPr lang="ko-KR" altLang="en-US" sz="3200" dirty="0"/>
                <a:t>와 오라클의 연동으로 여러가지 사이트를 만들 수 있을 거라 생각했고</a:t>
              </a:r>
              <a:r>
                <a:rPr lang="en-US" altLang="ko-KR" sz="3200" dirty="0"/>
                <a:t>, </a:t>
              </a:r>
              <a:r>
                <a:rPr lang="ko-KR" altLang="en-US" sz="3200" dirty="0"/>
                <a:t>새로운 함수들을 사용해봐서 좋은 경험이 되었다</a:t>
              </a:r>
              <a:r>
                <a:rPr lang="en-US" altLang="ko-KR" sz="3200" dirty="0"/>
                <a:t>.</a:t>
              </a:r>
              <a:endParaRPr lang="ko-KR" alt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7683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251FA-9004-E2A9-F4A5-4BFF5A44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시연 웹 </a:t>
            </a:r>
            <a:r>
              <a:rPr lang="en-US" altLang="ko-KR" dirty="0"/>
              <a:t>URL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E61C2E-7EEC-FFBF-52BD-056B39E61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hlinkClick r:id="rId2"/>
              </a:rPr>
              <a:t>http://azza.gwangju.ac.kr/~ce191719/project/main.php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8620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25EA92-736B-4E97-884C-C78DACC1BD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140323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2396</TotalTime>
  <Words>998</Words>
  <Application>Microsoft Office PowerPoint</Application>
  <PresentationFormat>와이드스크린</PresentationFormat>
  <Paragraphs>379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영화 정보 사이트 </vt:lpstr>
      <vt:lpstr>PowerPoint 프레젠테이션</vt:lpstr>
      <vt:lpstr>PowerPoint 프레젠테이션</vt:lpstr>
      <vt:lpstr>기능</vt:lpstr>
      <vt:lpstr>개념 설계</vt:lpstr>
      <vt:lpstr>논리 설계</vt:lpstr>
      <vt:lpstr>Use Case</vt:lpstr>
      <vt:lpstr>화면흐름도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시연 웹 URL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영화 정보 사이트 </dc:title>
  <dc:creator>윤 희혁</dc:creator>
  <cp:lastModifiedBy>조민혁</cp:lastModifiedBy>
  <cp:revision>121</cp:revision>
  <dcterms:created xsi:type="dcterms:W3CDTF">2023-05-01T10:23:35Z</dcterms:created>
  <dcterms:modified xsi:type="dcterms:W3CDTF">2023-06-19T06:57:07Z</dcterms:modified>
</cp:coreProperties>
</file>